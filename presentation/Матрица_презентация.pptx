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c64667c4-9e2b-6f32-73e5-1309ddf019e0}">
          <p14:sldIdLst>
            <p14:sldId id="256"/>
            <p14:sldId id="257"/>
            <p14:sldId id="258"/>
          </p14:sldIdLst>
        </p14:section>
        <p14:section name="Продукт" id="{79af12d3-fa14-efcf-cb2f-41a39ba41e79}">
          <p14:sldIdLst>
            <p14:sldId id="259"/>
            <p14:sldId id="260"/>
            <p14:sldId id="261"/>
          </p14:sldIdLst>
        </p14:section>
        <p14:section name="Финансовое ядро" id="{21669cb8-a3ba-0dc2-c630-05109d6dd256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Технологии" id="{1f1eb10b-1aff-526d-4f0f-0b3c6ef75a53}">
          <p14:sldIdLst>
            <p14:sldId id="269"/>
            <p14:sldId id="270"/>
          </p14:sldIdLst>
        </p14:section>
        <p14:section name="Итог" id="{e7418db9-669b-c499-89fd-11d0f94802b5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Здравствуйте, мы команда МАТРИЦА РУСИ. «Матрица» — цифровой кредитный конвейер для малого бизнеса: предприниматель проходит путь от потребности в деньгах до выдачи в одном кабинете, а банк ведёт заявку в том же процессе — с проверками, прозрачной оценкой и решением человека там, где оно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Малого бизнеса много, кредитов ему выдают больше триллиона. Но путь до денег неудобен обеим сторонам. Предприниматель не банкир: он не понимает, какой продукт выбрать, и не видит, что происходит после отправки. Банку нужно быстро обработать поток разнородных заявок, свести данные из разных источников и принять решение, которое можно объяснить и проверить.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начали не с экранов. Сначала разобрали, как банки работают с малым бизнесом, и обсудили путь клиента с предпринимателем — владельцем малого бизнеса, компании Karma Group. Потом взяли таблицу критериев кредитного аналитика и задали ей 14 вопросов: в каждом — что система делает сейчас, пример в рублях и варианты ответа. На слайде — первый вопрос: считать ли DSCR с платежом по новому кредиту. Аналитик выбрала вариант Б, и это поменяло формулу: класс риска теперь относится к заявке. Всего в модели 19 таких решений.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путь — четыре шага. Клиент подаёт заявку: помощник подсказывает продукт, данные компании уже подтянуты из реестра. Система сама проверяет полноту, сверяется с реестром и бюро и считает оценку — каждый шаг в журнале. Если заявка сложная, её решает аналитик по готовому заключению. Клиент получает предложение с платежом и графиком; простые заявки получают его сразу, без аналитика.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Заявка идёт по маршруту сама: проверка полноты, сверка с реестром и бюро кредитных историй, оценка. Дальше три режима. Надёжный заёмщик с небольшой суммой и опытом погашения получает предложение автоматически. Жёсткий стоп-фактор даёт отказ, но с понятной причиной и советом. Всё остальное решает человек. Важно: если по какому-то критерию нет данных, машина не решает ни в одну сторону — заявка идёт аналитику.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Кабинет рассчитан на человека без банковской экспертизы. Регистрация по ИНН — компания сама подтягивается из реестра. Помощник по описанию «закупить сырьё перед сезоном» предлагает продукт, но выбор за клиентом. Статус заявки обновляется в реальном времени. Предложение показывает не только ставку, но и переплату и график. Если условия другие, видно, что именно изменилось и почему.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— о главном: как устроена финансовая часть.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разделили оценку на три разных вопроса. Первый — насколько надёжна заявка: двенадцать критериев дают баллы, баллы — класс и вероятность дефолта. Второй — сколько банк может потерять: классическая формула ожидаемых потерь. Третий — потянет ли бизнес платёж: доля платежей в выручке и покрытие платежей денежным потоком. Ответы не смешиваются в одно число, и аналитик видит каждый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Двенадцать критериев и их веса — из таблицы кредитного аналитика: больше всего весят покрытие долга денежным потоком и просрочки. Сумма баллов даёт класс от A до D, классу соответствует вероятность дефолта и категория качества ссуды по 590-П. Класс C рассматривается только с обеспечением, D — отказ. И отдельное правило: если по критерию нет данных, он даёт ноль баллов, а решение принимает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из демо-данных. ИП Кузнецова просит 20 миллионов на оборудование. С таким платежом денежный поток покрывает долг лишь на 0,24, платежи съедают 117 % выручки — класс C. Обычная система просто отказала бы. «Матрица» считает предельную сумму — 2,29 миллиона — и оценивает её заново как самостоятельный кредит: это уже класс B, 65 баллов. Аналитик получает готовое встречное предложение.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Цена риска считается по стандартной формуле ожидаемых потерь. Вероятность дефолта пересчитывается на срок кредита. Сумма под риском — это средний долг по графику, а не вся сумма: иначе потери завышаются почти вдвое. Ставка складывается из безрисковой, премии за риск PD на LGD и операционных расходов продукта. Для оборотных средств это 16,5 % для класса A и 21,9 % для класса C. Аналитик видит всё это в карточке в рублях.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карточка заявки у аналитика. Справа — рекомендация системы с объяснением: почему меньшая сумма, какой у неё класс, чего не хватает для автоматического решения. Слева — заключение: сильные стороны, факторы риска, отдельно критерии без данных. Ниже категория по 590-П, опыт погашения и журнал. Решение — одной кнопкой из четырёх. Есть защита: встречное предложение не может быть больше запрошенного или дешевле базовой ставки, а заявку, которую взял коллега, второй аналитик не решит.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говорит, что рейтинговые модели проверяют по способности различать заёмщиков. Данных банка у нас нет, поэтому мы сгенерировали 20 000 синтетических компаний с известной вероятностью дефолта и прогнали через карту. Gini 0,23 при потолке 0,57, классы упорядочены. И честно: вероятности дефолта по классам экспертные, их нужно калибровать на данных банка — это следующий шаг. Тест закреплён в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попробовали открытые языковые модели в роли помощника: T-lite-it-2.1 и Qwen3.5 на 4 и 9 миллиардов параметров. Модели, которые запускаются на обычном компьютере, в части ответов придумывали сроки и условия, а в кредитном общении это недопустимо. Поэтому точные вопросы отвечает справочник на правилах, а модель подключается для подбора продукта и пояснений, и её ответ проверяет код. Решений ИИ не принимает. Для показа мы оставили правила; модель включается одним флагом.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 капотом — то, что ждут от банковской разработки. Go-сервис с машиной состояний: статус меняется только через допустимый переход, в одной транзакции с журналом. События идут через PostgreSQL, поэтому можно запускать несколько экземпляров. При сбое бюро — повторы, затем ручная проверка. Роли разделены, есть тесты на всех уровнях и CI. Всё поднимается одной командой docker compose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честно отмечаем упрощения: параметры модели иллюстративные, внешние системы смоделированы, роль аналитика одна. И мы знаем, что дальше: калибровка на данных банка, кредитная линия, лизинг, залог и поручительство — их мы сознательно не включили, — лимиты полномочий и подключение реальных сервисов.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по критериям кейса. Целостность — весь путь в одном продукте, его видно в видео. Готовность к проверке — запуск одной командой, демо-аккаунты и документация. Пользовательский опыт — каждый участник понимает, что происходит и что делать дальше. Согласованность — единая машина состояний и журнал. Enterprise — роли, версии, устойчивость к сбоям, тесты. Потенциал — понятный план развития и записанные решения команды. И все ограничения кейса соблюдены.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клиентский путь и обработка заявки в одном процессе, прозрачная финансовая модель, построенная вместе с кредитным аналитиком, и человек там, где он нужен. Всё запускается одной командой, доступы — на экране. Спасибо, ответим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ание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6327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Матрица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ёмный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atritsa-rusi.ru" TargetMode="External"/><Relationship Id="rId3" Type="http://schemas.openxmlformats.org/officeDocument/2006/relationships/hyperlink" Target="https://github.com/ruslankoleso/matritsa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matritsa-rusi.ru" TargetMode="External"/><Relationship Id="rId2" Type="http://schemas.openxmlformats.org/officeDocument/2006/relationships/hyperlink" Target="https://github.com/ruslankoleso/matritsa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асный блок"/>
          <p:cNvSpPr/>
          <p:nvPr/>
        </p:nvSpPr>
        <p:spPr>
          <a:xfrm>
            <a:off x="5989320" y="2788920"/>
            <a:ext cx="6949440" cy="4754880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/>
        </p:spPr>
      </p:sp>
      <p:sp>
        <p:nvSpPr>
          <p:cNvPr id="3" name="Круг 1"/>
          <p:cNvSpPr/>
          <p:nvPr/>
        </p:nvSpPr>
        <p:spPr>
          <a:xfrm>
            <a:off x="9464040" y="-685800"/>
            <a:ext cx="2834640" cy="2834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Круг 2"/>
          <p:cNvSpPr/>
          <p:nvPr/>
        </p:nvSpPr>
        <p:spPr>
          <a:xfrm>
            <a:off x="6720840" y="96012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Круг 3"/>
          <p:cNvSpPr/>
          <p:nvPr/>
        </p:nvSpPr>
        <p:spPr>
          <a:xfrm>
            <a:off x="8778240" y="502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Круг 4"/>
          <p:cNvSpPr/>
          <p:nvPr/>
        </p:nvSpPr>
        <p:spPr>
          <a:xfrm>
            <a:off x="11018520" y="1508760"/>
            <a:ext cx="822960" cy="822960"/>
          </a:xfrm>
          <a:prstGeom prst="ellipse">
            <a:avLst/>
          </a:prstGeom>
          <a:ln w="44450">
            <a:solidFill>
              <a:schemeClr val="accent1"/>
            </a:solidFill>
            <a:prstDash val="solid"/>
          </a:ln>
        </p:spPr>
      </p:sp>
      <p:sp>
        <p:nvSpPr>
          <p:cNvPr id="7" name="Круг 5"/>
          <p:cNvSpPr/>
          <p:nvPr/>
        </p:nvSpPr>
        <p:spPr>
          <a:xfrm>
            <a:off x="822960" y="562356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Круг 6"/>
          <p:cNvSpPr/>
          <p:nvPr/>
        </p:nvSpPr>
        <p:spPr>
          <a:xfrm>
            <a:off x="5760720" y="219456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Скриншот home" descr="Главная кабинета предпринимател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246120"/>
            <a:ext cx="5257800" cy="2208276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10" name="Круг 7"/>
          <p:cNvSpPr/>
          <p:nvPr/>
        </p:nvSpPr>
        <p:spPr>
          <a:xfrm>
            <a:off x="548640" y="566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Круг 8"/>
          <p:cNvSpPr/>
          <p:nvPr/>
        </p:nvSpPr>
        <p:spPr>
          <a:xfrm>
            <a:off x="649224" y="667512"/>
            <a:ext cx="109728" cy="1097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Текст 9"/>
          <p:cNvSpPr txBox="1"/>
          <p:nvPr/>
        </p:nvSpPr>
        <p:spPr>
          <a:xfrm>
            <a:off x="960120" y="548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Матрица</a:t>
            </a:r>
            <a:endParaRPr lang="en-US" sz="1800" dirty="0"/>
          </a:p>
        </p:txBody>
      </p:sp>
      <p:sp>
        <p:nvSpPr>
          <p:cNvPr id="13" name="Заголовок 10"/>
          <p:cNvSpPr txBox="1"/>
          <p:nvPr/>
        </p:nvSpPr>
        <p:spPr>
          <a:xfrm>
            <a:off x="548640" y="14630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Кредит для бизнеса шаг за шагом</a:t>
            </a:r>
            <a:endParaRPr lang="en-US" sz="3800" dirty="0"/>
          </a:p>
        </p:txBody>
      </p:sp>
      <p:sp>
        <p:nvSpPr>
          <p:cNvPr id="14" name="Текст 11"/>
          <p:cNvSpPr txBox="1"/>
          <p:nvPr/>
        </p:nvSpPr>
        <p:spPr>
          <a:xfrm>
            <a:off x="548640" y="3657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Умный кредитный кабинет предпринимателя: от потребности в деньгах до выдачи — в одном продукте. Клиент видит каждый шаг, банк — каждую цифру.</a:t>
            </a:r>
            <a:endParaRPr lang="en-US" sz="1600" dirty="0"/>
          </a:p>
        </p:txBody>
      </p:sp>
      <p:sp>
        <p:nvSpPr>
          <p:cNvPr id="15" name="Ссылка 12"/>
          <p:cNvSpPr/>
          <p:nvPr/>
        </p:nvSpPr>
        <p:spPr>
          <a:xfrm>
            <a:off x="548640" y="5074920"/>
            <a:ext cx="2148840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DF291C"/>
            </a:solidFill>
            <a:prstDash val="solid"/>
          </a:ln>
        </p:spPr>
      </p:sp>
      <p:sp>
        <p:nvSpPr>
          <p:cNvPr id="16" name="Текст 13"/>
          <p:cNvSpPr txBox="1"/>
          <p:nvPr/>
        </p:nvSpPr>
        <p:spPr>
          <a:xfrm>
            <a:off x="548640" y="50749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matritsa-rusi.ru  ↗</a:t>
            </a:r>
            <a:endParaRPr lang="en-US" sz="1300" dirty="0"/>
          </a:p>
        </p:txBody>
      </p:sp>
      <p:sp>
        <p:nvSpPr>
          <p:cNvPr id="17" name="Ссылка 14"/>
          <p:cNvSpPr/>
          <p:nvPr/>
        </p:nvSpPr>
        <p:spPr>
          <a:xfrm>
            <a:off x="2834640" y="5074920"/>
            <a:ext cx="3246120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8DFDC"/>
            </a:solidFill>
            <a:prstDash val="solid"/>
          </a:ln>
        </p:spPr>
      </p:sp>
      <p:sp>
        <p:nvSpPr>
          <p:cNvPr id="18" name="Текст 15"/>
          <p:cNvSpPr txBox="1"/>
          <p:nvPr/>
        </p:nvSpPr>
        <p:spPr>
          <a:xfrm>
            <a:off x="2834640" y="507492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github.com/ruslankoleso/matritsa</a:t>
            </a:r>
            <a:endParaRPr lang="en-US" sz="1300" dirty="0"/>
          </a:p>
        </p:txBody>
      </p:sp>
      <p:sp>
        <p:nvSpPr>
          <p:cNvPr id="19" name="Текст 16"/>
          <p:cNvSpPr txBox="1"/>
          <p:nvPr/>
        </p:nvSpPr>
        <p:spPr>
          <a:xfrm>
            <a:off x="2286000" y="5806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Команда МАТРИЦА РУСИ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Альфа Хак · кейс «Умный кредитный кабинет предпринимателя»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ЗАДАЧА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Кредит для бизнеса — квест для обеих сторон</a:t>
            </a:r>
            <a:endParaRPr lang="en-US" sz="2600" dirty="0"/>
          </a:p>
        </p:txBody>
      </p:sp>
      <p:sp>
        <p:nvSpPr>
          <p:cNvPr id="4" name="Текст 17"/>
          <p:cNvSpPr txBox="1"/>
          <p:nvPr/>
        </p:nvSpPr>
        <p:spPr>
          <a:xfrm>
            <a:off x="548640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6,6 млн</a:t>
            </a:r>
            <a:endParaRPr lang="en-US" sz="3200" dirty="0"/>
          </a:p>
        </p:txBody>
      </p:sp>
      <p:sp>
        <p:nvSpPr>
          <p:cNvPr id="5" name="Текст 18"/>
          <p:cNvSpPr txBox="1"/>
          <p:nvPr/>
        </p:nvSpPr>
        <p:spPr>
          <a:xfrm>
            <a:off x="54864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компаний и ИП в реестре МСП на июль 2026 — на 3,5 % больше, чем годом ранее</a:t>
            </a:r>
            <a:endParaRPr lang="en-US" sz="1200" dirty="0"/>
          </a:p>
        </p:txBody>
      </p:sp>
      <p:sp>
        <p:nvSpPr>
          <p:cNvPr id="6" name="Текст 19"/>
          <p:cNvSpPr txBox="1"/>
          <p:nvPr/>
        </p:nvSpPr>
        <p:spPr>
          <a:xfrm>
            <a:off x="548640" y="33375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1,313 трлн ₽</a:t>
            </a:r>
            <a:endParaRPr lang="en-US" sz="3200" dirty="0"/>
          </a:p>
        </p:txBody>
      </p:sp>
      <p:sp>
        <p:nvSpPr>
          <p:cNvPr id="7" name="Текст 20"/>
          <p:cNvSpPr txBox="1"/>
          <p:nvPr/>
        </p:nvSpPr>
        <p:spPr>
          <a:xfrm>
            <a:off x="54864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кредитов выдали банки малому и среднему бизнесу на июль 2026</a:t>
            </a:r>
            <a:endParaRPr lang="en-US" sz="1200" dirty="0"/>
          </a:p>
        </p:txBody>
      </p:sp>
      <p:sp>
        <p:nvSpPr>
          <p:cNvPr id="8" name="Текст 21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Данные из материалов кейса</a:t>
            </a:r>
            <a:endParaRPr lang="en-US" sz="1000" dirty="0"/>
          </a:p>
        </p:txBody>
      </p:sp>
      <p:sp>
        <p:nvSpPr>
          <p:cNvPr id="9" name="Карточка 22"/>
          <p:cNvSpPr/>
          <p:nvPr/>
        </p:nvSpPr>
        <p:spPr>
          <a:xfrm>
            <a:off x="4069080" y="1783080"/>
            <a:ext cx="3886200" cy="420624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0" name="Круг 23"/>
          <p:cNvSpPr/>
          <p:nvPr/>
        </p:nvSpPr>
        <p:spPr>
          <a:xfrm>
            <a:off x="438912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Текст 24"/>
          <p:cNvSpPr txBox="1"/>
          <p:nvPr/>
        </p:nvSpPr>
        <p:spPr>
          <a:xfrm>
            <a:off x="498348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Предприниматель</a:t>
            </a:r>
            <a:endParaRPr lang="en-US" sz="1800" dirty="0"/>
          </a:p>
        </p:txBody>
      </p:sp>
      <p:sp>
        <p:nvSpPr>
          <p:cNvPr id="12" name="Круг 25"/>
          <p:cNvSpPr/>
          <p:nvPr/>
        </p:nvSpPr>
        <p:spPr>
          <a:xfrm>
            <a:off x="4453128" y="2916936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Текст 26"/>
          <p:cNvSpPr txBox="1"/>
          <p:nvPr/>
        </p:nvSpPr>
        <p:spPr>
          <a:xfrm>
            <a:off x="4727448" y="2834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 знает, какой продукт подходит именно ему</a:t>
            </a:r>
            <a:endParaRPr lang="en-US" sz="1400" dirty="0"/>
          </a:p>
        </p:txBody>
      </p:sp>
      <p:sp>
        <p:nvSpPr>
          <p:cNvPr id="14" name="Круг 27"/>
          <p:cNvSpPr/>
          <p:nvPr/>
        </p:nvSpPr>
        <p:spPr>
          <a:xfrm>
            <a:off x="4453128" y="3666744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Текст 28"/>
          <p:cNvSpPr txBox="1"/>
          <p:nvPr/>
        </p:nvSpPr>
        <p:spPr>
          <a:xfrm>
            <a:off x="4727448" y="35844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Заполняет одни и те же сведения снова и снова</a:t>
            </a:r>
            <a:endParaRPr lang="en-US" sz="1400" dirty="0"/>
          </a:p>
        </p:txBody>
      </p:sp>
      <p:sp>
        <p:nvSpPr>
          <p:cNvPr id="16" name="Круг 29"/>
          <p:cNvSpPr/>
          <p:nvPr/>
        </p:nvSpPr>
        <p:spPr>
          <a:xfrm>
            <a:off x="4453128" y="441655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Текст 30"/>
          <p:cNvSpPr txBox="1"/>
          <p:nvPr/>
        </p:nvSpPr>
        <p:spPr>
          <a:xfrm>
            <a:off x="4727448" y="433425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 видит, что происходит с заявкой</a:t>
            </a:r>
            <a:endParaRPr lang="en-US" sz="1400" dirty="0"/>
          </a:p>
        </p:txBody>
      </p:sp>
      <p:sp>
        <p:nvSpPr>
          <p:cNvPr id="18" name="Круг 31"/>
          <p:cNvSpPr/>
          <p:nvPr/>
        </p:nvSpPr>
        <p:spPr>
          <a:xfrm>
            <a:off x="4453128" y="516636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Текст 32"/>
          <p:cNvSpPr txBox="1"/>
          <p:nvPr/>
        </p:nvSpPr>
        <p:spPr>
          <a:xfrm>
            <a:off x="4727448" y="508406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Получает отказ без объяснений</a:t>
            </a:r>
            <a:endParaRPr lang="en-US" sz="1400" dirty="0"/>
          </a:p>
        </p:txBody>
      </p:sp>
      <p:sp>
        <p:nvSpPr>
          <p:cNvPr id="20" name="Карточка 33"/>
          <p:cNvSpPr/>
          <p:nvPr/>
        </p:nvSpPr>
        <p:spPr>
          <a:xfrm>
            <a:off x="8092440" y="1783080"/>
            <a:ext cx="3886200" cy="420624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21" name="Круг 34"/>
          <p:cNvSpPr/>
          <p:nvPr/>
        </p:nvSpPr>
        <p:spPr>
          <a:xfrm>
            <a:off x="8412480" y="21031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Текст 35"/>
          <p:cNvSpPr txBox="1"/>
          <p:nvPr/>
        </p:nvSpPr>
        <p:spPr>
          <a:xfrm>
            <a:off x="900684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Банк</a:t>
            </a:r>
            <a:endParaRPr lang="en-US" sz="1800" dirty="0"/>
          </a:p>
        </p:txBody>
      </p:sp>
      <p:sp>
        <p:nvSpPr>
          <p:cNvPr id="23" name="Круг 36"/>
          <p:cNvSpPr/>
          <p:nvPr/>
        </p:nvSpPr>
        <p:spPr>
          <a:xfrm>
            <a:off x="8476488" y="2916936"/>
            <a:ext cx="109728" cy="1097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Текст 37"/>
          <p:cNvSpPr txBox="1"/>
          <p:nvPr/>
        </p:nvSpPr>
        <p:spPr>
          <a:xfrm>
            <a:off x="8750808" y="2834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Тысячи заявок с разными суммами и риском</a:t>
            </a:r>
            <a:endParaRPr lang="en-US" sz="1400" dirty="0"/>
          </a:p>
        </p:txBody>
      </p:sp>
      <p:sp>
        <p:nvSpPr>
          <p:cNvPr id="25" name="Круг 38"/>
          <p:cNvSpPr/>
          <p:nvPr/>
        </p:nvSpPr>
        <p:spPr>
          <a:xfrm>
            <a:off x="8476488" y="3666744"/>
            <a:ext cx="109728" cy="1097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Текст 39"/>
          <p:cNvSpPr txBox="1"/>
          <p:nvPr/>
        </p:nvSpPr>
        <p:spPr>
          <a:xfrm>
            <a:off x="8750808" y="35844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Данные разбросаны по реестру, бюро и документам</a:t>
            </a:r>
            <a:endParaRPr lang="en-US" sz="1400" dirty="0"/>
          </a:p>
        </p:txBody>
      </p:sp>
      <p:sp>
        <p:nvSpPr>
          <p:cNvPr id="27" name="Круг 40"/>
          <p:cNvSpPr/>
          <p:nvPr/>
        </p:nvSpPr>
        <p:spPr>
          <a:xfrm>
            <a:off x="8476488" y="4416552"/>
            <a:ext cx="109728" cy="1097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Текст 41"/>
          <p:cNvSpPr txBox="1"/>
          <p:nvPr/>
        </p:nvSpPr>
        <p:spPr>
          <a:xfrm>
            <a:off x="8750808" y="433425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Аналитики тратят время на простые заявки</a:t>
            </a:r>
            <a:endParaRPr lang="en-US" sz="1400" dirty="0"/>
          </a:p>
        </p:txBody>
      </p:sp>
      <p:sp>
        <p:nvSpPr>
          <p:cNvPr id="29" name="Круг 42"/>
          <p:cNvSpPr/>
          <p:nvPr/>
        </p:nvSpPr>
        <p:spPr>
          <a:xfrm>
            <a:off x="8476488" y="5166360"/>
            <a:ext cx="109728" cy="1097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Текст 43"/>
          <p:cNvSpPr txBox="1"/>
          <p:nvPr/>
        </p:nvSpPr>
        <p:spPr>
          <a:xfrm>
            <a:off x="8750808" y="508406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Решение трудно объяснить клиенту и проверить потом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ИССЛЕДОВАНИЕ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Сначала процесс и эксперт, потом экраны</a:t>
            </a:r>
            <a:endParaRPr lang="en-US" sz="2600" dirty="0"/>
          </a:p>
        </p:txBody>
      </p:sp>
      <p:sp>
        <p:nvSpPr>
          <p:cNvPr id="4" name="Круг 44"/>
          <p:cNvSpPr/>
          <p:nvPr/>
        </p:nvSpPr>
        <p:spPr>
          <a:xfrm>
            <a:off x="548640" y="1737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Текст 45"/>
          <p:cNvSpPr txBox="1"/>
          <p:nvPr/>
        </p:nvSpPr>
        <p:spPr>
          <a:xfrm>
            <a:off x="5486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Линия 46"/>
          <p:cNvSpPr/>
          <p:nvPr/>
        </p:nvSpPr>
        <p:spPr>
          <a:xfrm>
            <a:off x="758952" y="2194560"/>
            <a:ext cx="0" cy="420624"/>
          </a:xfrm>
          <a:prstGeom prst="line">
            <a:avLst/>
          </a:prstGeom>
          <a:noFill/>
          <a:ln w="19050">
            <a:solidFill>
              <a:srgbClr val="FBCBC6"/>
            </a:solidFill>
            <a:prstDash val="solid"/>
          </a:ln>
        </p:spPr>
      </p:sp>
      <p:sp>
        <p:nvSpPr>
          <p:cNvPr id="7" name="Текст 47"/>
          <p:cNvSpPr txBox="1"/>
          <p:nvPr/>
        </p:nvSpPr>
        <p:spPr>
          <a:xfrm>
            <a:off x="1188720" y="17190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Разобрали кейс и практику банков</a:t>
            </a:r>
            <a:endParaRPr lang="en-US" sz="1500" dirty="0"/>
          </a:p>
        </p:txBody>
      </p:sp>
      <p:sp>
        <p:nvSpPr>
          <p:cNvPr id="8" name="Текст 48"/>
          <p:cNvSpPr txBox="1"/>
          <p:nvPr/>
        </p:nvSpPr>
        <p:spPr>
          <a:xfrm>
            <a:off x="1188720" y="20391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Скоринг для простых заявок, аналитик для сложных; DSCR рядом с долговой нагрузкой</a:t>
            </a:r>
            <a:endParaRPr lang="en-US" sz="1200" dirty="0"/>
          </a:p>
        </p:txBody>
      </p:sp>
      <p:sp>
        <p:nvSpPr>
          <p:cNvPr id="9" name="Круг 49"/>
          <p:cNvSpPr/>
          <p:nvPr/>
        </p:nvSpPr>
        <p:spPr>
          <a:xfrm>
            <a:off x="548640" y="261518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Текст 50"/>
          <p:cNvSpPr txBox="1"/>
          <p:nvPr/>
        </p:nvSpPr>
        <p:spPr>
          <a:xfrm>
            <a:off x="54864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Линия 51"/>
          <p:cNvSpPr/>
          <p:nvPr/>
        </p:nvSpPr>
        <p:spPr>
          <a:xfrm>
            <a:off x="758952" y="3072384"/>
            <a:ext cx="0" cy="420624"/>
          </a:xfrm>
          <a:prstGeom prst="line">
            <a:avLst/>
          </a:prstGeom>
          <a:noFill/>
          <a:ln w="19050">
            <a:solidFill>
              <a:srgbClr val="FBCBC6"/>
            </a:solidFill>
            <a:prstDash val="solid"/>
          </a:ln>
        </p:spPr>
      </p:sp>
      <p:sp>
        <p:nvSpPr>
          <p:cNvPr id="12" name="Текст 52"/>
          <p:cNvSpPr txBox="1"/>
          <p:nvPr/>
        </p:nvSpPr>
        <p:spPr>
          <a:xfrm>
            <a:off x="1188720" y="2596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Поговорили с предпринимателем</a:t>
            </a:r>
            <a:endParaRPr lang="en-US" sz="1500" dirty="0"/>
          </a:p>
        </p:txBody>
      </p:sp>
      <p:sp>
        <p:nvSpPr>
          <p:cNvPr id="13" name="Текст 53"/>
          <p:cNvSpPr txBox="1"/>
          <p:nvPr/>
        </p:nvSpPr>
        <p:spPr>
          <a:xfrm>
            <a:off x="1188720" y="29169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Обсудили путь клиента с владельцем малого бизнеса</a:t>
            </a:r>
            <a:endParaRPr lang="en-US" sz="1200" dirty="0"/>
          </a:p>
        </p:txBody>
      </p:sp>
      <p:sp>
        <p:nvSpPr>
          <p:cNvPr id="14" name="Карточка 54"/>
          <p:cNvSpPr/>
          <p:nvPr/>
        </p:nvSpPr>
        <p:spPr>
          <a:xfrm>
            <a:off x="4983480" y="2578608"/>
            <a:ext cx="141732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pic>
        <p:nvPicPr>
          <p:cNvPr id="15" name="Логотип Karma Group" descr="Логотип Karma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08" y="2715768"/>
            <a:ext cx="1197864" cy="403281"/>
          </a:xfrm>
          <a:prstGeom prst="rect">
            <a:avLst/>
          </a:prstGeom>
        </p:spPr>
      </p:pic>
      <p:sp>
        <p:nvSpPr>
          <p:cNvPr id="16" name="Круг 55"/>
          <p:cNvSpPr/>
          <p:nvPr/>
        </p:nvSpPr>
        <p:spPr>
          <a:xfrm>
            <a:off x="548640" y="34930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Текст 56"/>
          <p:cNvSpPr txBox="1"/>
          <p:nvPr/>
        </p:nvSpPr>
        <p:spPr>
          <a:xfrm>
            <a:off x="54864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Линия 57"/>
          <p:cNvSpPr/>
          <p:nvPr/>
        </p:nvSpPr>
        <p:spPr>
          <a:xfrm>
            <a:off x="758952" y="3950208"/>
            <a:ext cx="0" cy="420624"/>
          </a:xfrm>
          <a:prstGeom prst="line">
            <a:avLst/>
          </a:prstGeom>
          <a:noFill/>
          <a:ln w="19050">
            <a:solidFill>
              <a:srgbClr val="FBCBC6"/>
            </a:solidFill>
            <a:prstDash val="solid"/>
          </a:ln>
        </p:spPr>
      </p:sp>
      <p:sp>
        <p:nvSpPr>
          <p:cNvPr id="19" name="Текст 58"/>
          <p:cNvSpPr txBox="1"/>
          <p:nvPr/>
        </p:nvSpPr>
        <p:spPr>
          <a:xfrm>
            <a:off x="1188720" y="34747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Взяли таблицу кредитного аналитика</a:t>
            </a:r>
            <a:endParaRPr lang="en-US" sz="1500" dirty="0"/>
          </a:p>
        </p:txBody>
      </p:sp>
      <p:sp>
        <p:nvSpPr>
          <p:cNvPr id="20" name="Текст 59"/>
          <p:cNvSpPr txBox="1"/>
          <p:nvPr/>
        </p:nvSpPr>
        <p:spPr>
          <a:xfrm>
            <a:off x="1188720" y="3794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12 критериев на 100 баллов, классы A–D, категории 590-П, стоп-факторы</a:t>
            </a:r>
            <a:endParaRPr lang="en-US" sz="1200" dirty="0"/>
          </a:p>
        </p:txBody>
      </p:sp>
      <p:sp>
        <p:nvSpPr>
          <p:cNvPr id="21" name="Круг 60"/>
          <p:cNvSpPr/>
          <p:nvPr/>
        </p:nvSpPr>
        <p:spPr>
          <a:xfrm>
            <a:off x="548640" y="43708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Текст 61"/>
          <p:cNvSpPr txBox="1"/>
          <p:nvPr/>
        </p:nvSpPr>
        <p:spPr>
          <a:xfrm>
            <a:off x="54864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Линия 62"/>
          <p:cNvSpPr/>
          <p:nvPr/>
        </p:nvSpPr>
        <p:spPr>
          <a:xfrm>
            <a:off x="758952" y="4828032"/>
            <a:ext cx="0" cy="420624"/>
          </a:xfrm>
          <a:prstGeom prst="line">
            <a:avLst/>
          </a:prstGeom>
          <a:noFill/>
          <a:ln w="19050">
            <a:solidFill>
              <a:srgbClr val="FBCBC6"/>
            </a:solidFill>
            <a:prstDash val="solid"/>
          </a:ln>
        </p:spPr>
      </p:sp>
      <p:sp>
        <p:nvSpPr>
          <p:cNvPr id="24" name="Текст 63"/>
          <p:cNvSpPr txBox="1"/>
          <p:nvPr/>
        </p:nvSpPr>
        <p:spPr>
          <a:xfrm>
            <a:off x="1188720" y="43525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Задали аналитику 14 вопросов</a:t>
            </a:r>
            <a:endParaRPr lang="en-US" sz="1500" dirty="0"/>
          </a:p>
        </p:txBody>
      </p:sp>
      <p:sp>
        <p:nvSpPr>
          <p:cNvPr id="25" name="Текст 64"/>
          <p:cNvSpPr txBox="1"/>
          <p:nvPr/>
        </p:nvSpPr>
        <p:spPr>
          <a:xfrm>
            <a:off x="1188720" y="46725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С примерами в рублях — там, где не хватало границ или формул. 19 её решений теперь в модели</a:t>
            </a:r>
            <a:endParaRPr lang="en-US" sz="1200" dirty="0"/>
          </a:p>
        </p:txBody>
      </p:sp>
      <p:sp>
        <p:nvSpPr>
          <p:cNvPr id="26" name="Круг 65"/>
          <p:cNvSpPr/>
          <p:nvPr/>
        </p:nvSpPr>
        <p:spPr>
          <a:xfrm>
            <a:off x="548640" y="5248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Текст 66"/>
          <p:cNvSpPr txBox="1"/>
          <p:nvPr/>
        </p:nvSpPr>
        <p:spPr>
          <a:xfrm>
            <a:off x="548640" y="5248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Текст 67"/>
          <p:cNvSpPr txBox="1"/>
          <p:nvPr/>
        </p:nvSpPr>
        <p:spPr>
          <a:xfrm>
            <a:off x="1188720" y="52303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Проверили открытые языковые модели</a:t>
            </a:r>
            <a:endParaRPr lang="en-US" sz="1500" dirty="0"/>
          </a:p>
        </p:txBody>
      </p:sp>
      <p:sp>
        <p:nvSpPr>
          <p:cNvPr id="29" name="Текст 68"/>
          <p:cNvSpPr txBox="1"/>
          <p:nvPr/>
        </p:nvSpPr>
        <p:spPr>
          <a:xfrm>
            <a:off x="1188720" y="55504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Три модели на 17 вопросах клиентов: где ИИ полезен, а где опасен</a:t>
            </a:r>
            <a:endParaRPr lang="en-US" sz="1200" dirty="0"/>
          </a:p>
        </p:txBody>
      </p:sp>
      <p:pic>
        <p:nvPicPr>
          <p:cNvPr id="30" name="Скриншот question" descr="Страница документа «Вопросы к аналитику», вопрос 1 о DSC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">
            <a:off x="6675120" y="1600200"/>
            <a:ext cx="4023360" cy="3862426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31" name="Пометка ответа"/>
          <p:cNvSpPr/>
          <p:nvPr/>
        </p:nvSpPr>
        <p:spPr>
          <a:xfrm rot="-180000">
            <a:off x="6675120" y="4334256"/>
            <a:ext cx="1783080" cy="365760"/>
          </a:xfrm>
          <a:prstGeom prst="ellipse">
            <a:avLst/>
          </a:prstGeom>
          <a:ln w="28575">
            <a:solidFill>
              <a:srgbClr val="DF291C"/>
            </a:solidFill>
            <a:prstDash val="solid"/>
          </a:ln>
        </p:spPr>
      </p:sp>
      <p:sp>
        <p:nvSpPr>
          <p:cNvPr id="32" name="Рукописная пометка 69"/>
          <p:cNvSpPr txBox="1"/>
          <p:nvPr/>
        </p:nvSpPr>
        <p:spPr>
          <a:xfrm rot="-180000">
            <a:off x="6903720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← выбрали Б: класс зависит от суммы заявки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 заявки до денег — четыре шага</a:t>
            </a:r>
            <a:endParaRPr lang="en-US" sz="2600" dirty="0"/>
          </a:p>
        </p:txBody>
      </p:sp>
      <p:sp>
        <p:nvSpPr>
          <p:cNvPr id="4" name="Маршрут"/>
          <p:cNvSpPr/>
          <p:nvPr/>
        </p:nvSpPr>
        <p:spPr>
          <a:xfrm>
            <a:off x="1828800" y="1938528"/>
            <a:ext cx="8534095" cy="0"/>
          </a:xfrm>
          <a:prstGeom prst="line">
            <a:avLst/>
          </a:prstGeom>
          <a:noFill/>
          <a:ln w="38100">
            <a:solidFill>
              <a:srgbClr val="DF291C"/>
            </a:solidFill>
            <a:prstDash val="solid"/>
          </a:ln>
        </p:spPr>
      </p:sp>
      <p:sp>
        <p:nvSpPr>
          <p:cNvPr id="5" name="Круг 70"/>
          <p:cNvSpPr/>
          <p:nvPr/>
        </p:nvSpPr>
        <p:spPr>
          <a:xfrm>
            <a:off x="1581912" y="169164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Текст 71"/>
          <p:cNvSpPr txBox="1"/>
          <p:nvPr/>
        </p:nvSpPr>
        <p:spPr>
          <a:xfrm>
            <a:off x="1581912" y="1691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Участник 72"/>
          <p:cNvSpPr/>
          <p:nvPr/>
        </p:nvSpPr>
        <p:spPr>
          <a:xfrm>
            <a:off x="548640" y="2395728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Текст 73"/>
          <p:cNvSpPr txBox="1"/>
          <p:nvPr/>
        </p:nvSpPr>
        <p:spPr>
          <a:xfrm>
            <a:off x="548640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Клиент</a:t>
            </a:r>
            <a:endParaRPr lang="en-US" sz="1100" dirty="0"/>
          </a:p>
        </p:txBody>
      </p:sp>
      <p:sp>
        <p:nvSpPr>
          <p:cNvPr id="9" name="Текст 74"/>
          <p:cNvSpPr txBox="1"/>
          <p:nvPr/>
        </p:nvSpPr>
        <p:spPr>
          <a:xfrm>
            <a:off x="548640" y="2816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Подаёт заявку</a:t>
            </a:r>
            <a:endParaRPr lang="en-US" sz="1700" dirty="0"/>
          </a:p>
        </p:txBody>
      </p:sp>
      <p:sp>
        <p:nvSpPr>
          <p:cNvPr id="10" name="Текст 75"/>
          <p:cNvSpPr txBox="1"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Помощник подберёт продукт, данные компании — из реестра</a:t>
            </a:r>
            <a:endParaRPr lang="en-US" sz="1200" dirty="0"/>
          </a:p>
        </p:txBody>
      </p:sp>
      <p:pic>
        <p:nvPicPr>
          <p:cNvPr id="11" name="Скриншот t1" descr="Подаёт заявк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2560320" cy="2194194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12" name="Круг 76"/>
          <p:cNvSpPr/>
          <p:nvPr/>
        </p:nvSpPr>
        <p:spPr>
          <a:xfrm>
            <a:off x="4426610" y="169164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Текст 77"/>
          <p:cNvSpPr txBox="1"/>
          <p:nvPr/>
        </p:nvSpPr>
        <p:spPr>
          <a:xfrm>
            <a:off x="4426610" y="1691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Участник 78"/>
          <p:cNvSpPr/>
          <p:nvPr/>
        </p:nvSpPr>
        <p:spPr>
          <a:xfrm>
            <a:off x="3393338" y="2395728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5" name="Текст 79"/>
          <p:cNvSpPr txBox="1"/>
          <p:nvPr/>
        </p:nvSpPr>
        <p:spPr>
          <a:xfrm>
            <a:off x="3393338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Система</a:t>
            </a:r>
            <a:endParaRPr lang="en-US" sz="1100" dirty="0"/>
          </a:p>
        </p:txBody>
      </p:sp>
      <p:sp>
        <p:nvSpPr>
          <p:cNvPr id="16" name="Текст 80"/>
          <p:cNvSpPr txBox="1"/>
          <p:nvPr/>
        </p:nvSpPr>
        <p:spPr>
          <a:xfrm>
            <a:off x="3393338" y="2816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Проверяет и считает</a:t>
            </a:r>
            <a:endParaRPr lang="en-US" sz="1700" dirty="0"/>
          </a:p>
        </p:txBody>
      </p:sp>
      <p:sp>
        <p:nvSpPr>
          <p:cNvPr id="17" name="Текст 81"/>
          <p:cNvSpPr txBox="1"/>
          <p:nvPr/>
        </p:nvSpPr>
        <p:spPr>
          <a:xfrm>
            <a:off x="3393338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Полнота, реестр и бюро, 12 критериев — за минуты</a:t>
            </a:r>
            <a:endParaRPr lang="en-US" sz="1200" dirty="0"/>
          </a:p>
        </p:txBody>
      </p:sp>
      <p:pic>
        <p:nvPicPr>
          <p:cNvPr id="18" name="Скриншот t2" descr="Проверяет и считае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338" y="3840480"/>
            <a:ext cx="2560320" cy="2194194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19" name="Круг 82"/>
          <p:cNvSpPr/>
          <p:nvPr/>
        </p:nvSpPr>
        <p:spPr>
          <a:xfrm>
            <a:off x="7271309" y="169164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Текст 83"/>
          <p:cNvSpPr txBox="1"/>
          <p:nvPr/>
        </p:nvSpPr>
        <p:spPr>
          <a:xfrm>
            <a:off x="7271309" y="1691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Участник 84"/>
          <p:cNvSpPr/>
          <p:nvPr/>
        </p:nvSpPr>
        <p:spPr>
          <a:xfrm>
            <a:off x="6238037" y="2395728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2" name="Текст 85"/>
          <p:cNvSpPr txBox="1"/>
          <p:nvPr/>
        </p:nvSpPr>
        <p:spPr>
          <a:xfrm>
            <a:off x="6238037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Аналитик</a:t>
            </a:r>
            <a:endParaRPr lang="en-US" sz="1100" dirty="0"/>
          </a:p>
        </p:txBody>
      </p:sp>
      <p:sp>
        <p:nvSpPr>
          <p:cNvPr id="23" name="Текст 86"/>
          <p:cNvSpPr txBox="1"/>
          <p:nvPr/>
        </p:nvSpPr>
        <p:spPr>
          <a:xfrm>
            <a:off x="7472477" y="23957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если сложная</a:t>
            </a:r>
            <a:endParaRPr lang="en-US" sz="1100" dirty="0"/>
          </a:p>
        </p:txBody>
      </p:sp>
      <p:sp>
        <p:nvSpPr>
          <p:cNvPr id="24" name="Текст 87"/>
          <p:cNvSpPr txBox="1"/>
          <p:nvPr/>
        </p:nvSpPr>
        <p:spPr>
          <a:xfrm>
            <a:off x="6238037" y="2816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Решает по заключению</a:t>
            </a:r>
            <a:endParaRPr lang="en-US" sz="1700" dirty="0"/>
          </a:p>
        </p:txBody>
      </p:sp>
      <p:sp>
        <p:nvSpPr>
          <p:cNvPr id="25" name="Текст 88"/>
          <p:cNvSpPr txBox="1"/>
          <p:nvPr/>
        </p:nvSpPr>
        <p:spPr>
          <a:xfrm>
            <a:off x="6238037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Рекомендация системы и четыре действия на выбор</a:t>
            </a:r>
            <a:endParaRPr lang="en-US" sz="1200" dirty="0"/>
          </a:p>
        </p:txBody>
      </p:sp>
      <p:pic>
        <p:nvPicPr>
          <p:cNvPr id="26" name="Скриншот t3" descr="Решает по заключению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037" y="3840480"/>
            <a:ext cx="2560320" cy="2194194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27" name="Круг 89"/>
          <p:cNvSpPr/>
          <p:nvPr/>
        </p:nvSpPr>
        <p:spPr>
          <a:xfrm>
            <a:off x="10116007" y="169164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Текст 90"/>
          <p:cNvSpPr txBox="1"/>
          <p:nvPr/>
        </p:nvSpPr>
        <p:spPr>
          <a:xfrm>
            <a:off x="10116007" y="1691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Участник 91"/>
          <p:cNvSpPr/>
          <p:nvPr/>
        </p:nvSpPr>
        <p:spPr>
          <a:xfrm>
            <a:off x="9082735" y="2395728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Текст 92"/>
          <p:cNvSpPr txBox="1"/>
          <p:nvPr/>
        </p:nvSpPr>
        <p:spPr>
          <a:xfrm>
            <a:off x="9082735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Клиент</a:t>
            </a:r>
            <a:endParaRPr lang="en-US" sz="1100" dirty="0"/>
          </a:p>
        </p:txBody>
      </p:sp>
      <p:sp>
        <p:nvSpPr>
          <p:cNvPr id="31" name="Текст 93"/>
          <p:cNvSpPr txBox="1"/>
          <p:nvPr/>
        </p:nvSpPr>
        <p:spPr>
          <a:xfrm>
            <a:off x="9082735" y="2816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Получает предложение</a:t>
            </a:r>
            <a:endParaRPr lang="en-US" sz="1700" dirty="0"/>
          </a:p>
        </p:txBody>
      </p:sp>
      <p:sp>
        <p:nvSpPr>
          <p:cNvPr id="32" name="Текст 94"/>
          <p:cNvSpPr txBox="1"/>
          <p:nvPr/>
        </p:nvSpPr>
        <p:spPr>
          <a:xfrm>
            <a:off x="9082735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Платёж и график; простые заявки — сразу после шага 2</a:t>
            </a:r>
            <a:endParaRPr lang="en-US" sz="1200" dirty="0"/>
          </a:p>
        </p:txBody>
      </p:sp>
      <p:pic>
        <p:nvPicPr>
          <p:cNvPr id="33" name="Скриншот t4" descr="Получает предлож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735" y="3840480"/>
            <a:ext cx="2560320" cy="2194194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КРЕДИТНЫЙ ПРОЦЕСС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Простое — за минуту, сложное — человеку</a:t>
            </a:r>
            <a:endParaRPr lang="en-US" sz="2600" dirty="0"/>
          </a:p>
        </p:txBody>
      </p:sp>
      <p:sp>
        <p:nvSpPr>
          <p:cNvPr id="4" name="Маршрут"/>
          <p:cNvSpPr/>
          <p:nvPr/>
        </p:nvSpPr>
        <p:spPr>
          <a:xfrm>
            <a:off x="822960" y="2057400"/>
            <a:ext cx="10545775" cy="0"/>
          </a:xfrm>
          <a:prstGeom prst="line">
            <a:avLst/>
          </a:prstGeom>
          <a:noFill/>
          <a:ln w="38100">
            <a:solidFill>
              <a:srgbClr val="DF291C"/>
            </a:solidFill>
            <a:prstDash val="solid"/>
          </a:ln>
        </p:spPr>
      </p:sp>
      <p:sp>
        <p:nvSpPr>
          <p:cNvPr id="5" name="Круг 95"/>
          <p:cNvSpPr/>
          <p:nvPr/>
        </p:nvSpPr>
        <p:spPr>
          <a:xfrm>
            <a:off x="667512" y="19019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Текст 96"/>
          <p:cNvSpPr txBox="1"/>
          <p:nvPr/>
        </p:nvSpPr>
        <p:spPr>
          <a:xfrm>
            <a:off x="-914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Заявка</a:t>
            </a:r>
            <a:endParaRPr lang="en-US" sz="1300" dirty="0"/>
          </a:p>
        </p:txBody>
      </p:sp>
      <p:sp>
        <p:nvSpPr>
          <p:cNvPr id="7" name="Круг 97"/>
          <p:cNvSpPr/>
          <p:nvPr/>
        </p:nvSpPr>
        <p:spPr>
          <a:xfrm>
            <a:off x="2776667" y="19019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Текст 98"/>
          <p:cNvSpPr txBox="1"/>
          <p:nvPr/>
        </p:nvSpPr>
        <p:spPr>
          <a:xfrm>
            <a:off x="2017715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Проверка полноты</a:t>
            </a:r>
            <a:endParaRPr lang="en-US" sz="1300" dirty="0"/>
          </a:p>
        </p:txBody>
      </p:sp>
      <p:sp>
        <p:nvSpPr>
          <p:cNvPr id="9" name="Круг 99"/>
          <p:cNvSpPr/>
          <p:nvPr/>
        </p:nvSpPr>
        <p:spPr>
          <a:xfrm>
            <a:off x="4885822" y="19019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Текст 100"/>
          <p:cNvSpPr txBox="1"/>
          <p:nvPr/>
        </p:nvSpPr>
        <p:spPr>
          <a:xfrm>
            <a:off x="412687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Реестр и бюро</a:t>
            </a:r>
            <a:endParaRPr lang="en-US" sz="1300" dirty="0"/>
          </a:p>
        </p:txBody>
      </p:sp>
      <p:sp>
        <p:nvSpPr>
          <p:cNvPr id="11" name="Круг 101"/>
          <p:cNvSpPr/>
          <p:nvPr/>
        </p:nvSpPr>
        <p:spPr>
          <a:xfrm>
            <a:off x="6994977" y="19019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Текст 102"/>
          <p:cNvSpPr txBox="1"/>
          <p:nvPr/>
        </p:nvSpPr>
        <p:spPr>
          <a:xfrm>
            <a:off x="6236025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Оценка</a:t>
            </a:r>
            <a:endParaRPr lang="en-US" sz="1300" dirty="0"/>
          </a:p>
        </p:txBody>
      </p:sp>
      <p:sp>
        <p:nvSpPr>
          <p:cNvPr id="13" name="Круг 103"/>
          <p:cNvSpPr/>
          <p:nvPr/>
        </p:nvSpPr>
        <p:spPr>
          <a:xfrm>
            <a:off x="9104132" y="19019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Текст 104"/>
          <p:cNvSpPr txBox="1"/>
          <p:nvPr/>
        </p:nvSpPr>
        <p:spPr>
          <a:xfrm>
            <a:off x="83451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Решение</a:t>
            </a:r>
            <a:endParaRPr lang="en-US" sz="1300" dirty="0"/>
          </a:p>
        </p:txBody>
      </p:sp>
      <p:sp>
        <p:nvSpPr>
          <p:cNvPr id="15" name="Круг 105"/>
          <p:cNvSpPr/>
          <p:nvPr/>
        </p:nvSpPr>
        <p:spPr>
          <a:xfrm>
            <a:off x="11213287" y="1901952"/>
            <a:ext cx="310896" cy="31089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6" name="Круг 106"/>
          <p:cNvSpPr/>
          <p:nvPr/>
        </p:nvSpPr>
        <p:spPr>
          <a:xfrm>
            <a:off x="11213287" y="1901952"/>
            <a:ext cx="310896" cy="310896"/>
          </a:xfrm>
          <a:prstGeom prst="ellipse">
            <a:avLst/>
          </a:prstGeom>
          <a:ln w="31750">
            <a:solidFill>
              <a:schemeClr val="accent1"/>
            </a:solidFill>
            <a:prstDash val="solid"/>
          </a:ln>
        </p:spPr>
      </p:sp>
      <p:sp>
        <p:nvSpPr>
          <p:cNvPr id="17" name="Текст 107"/>
          <p:cNvSpPr txBox="1"/>
          <p:nvPr/>
        </p:nvSpPr>
        <p:spPr>
          <a:xfrm>
            <a:off x="10454335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Деньги</a:t>
            </a:r>
            <a:endParaRPr lang="en-US" sz="1300" dirty="0"/>
          </a:p>
        </p:txBody>
      </p:sp>
      <p:sp>
        <p:nvSpPr>
          <p:cNvPr id="18" name="Карточка 108"/>
          <p:cNvSpPr/>
          <p:nvPr/>
        </p:nvSpPr>
        <p:spPr>
          <a:xfrm>
            <a:off x="548640" y="30175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E4F3EA"/>
          </a:solidFill>
          <a:ln/>
        </p:spPr>
      </p:sp>
      <p:sp>
        <p:nvSpPr>
          <p:cNvPr id="19" name="Круг 109"/>
          <p:cNvSpPr/>
          <p:nvPr/>
        </p:nvSpPr>
        <p:spPr>
          <a:xfrm>
            <a:off x="804672" y="32461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Текст 110"/>
          <p:cNvSpPr txBox="1"/>
          <p:nvPr/>
        </p:nvSpPr>
        <p:spPr>
          <a:xfrm>
            <a:off x="1097280" y="3172968"/>
            <a:ext cx="26922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Автоматически</a:t>
            </a:r>
            <a:endParaRPr lang="en-US" sz="1500" dirty="0"/>
          </a:p>
        </p:txBody>
      </p:sp>
      <p:sp>
        <p:nvSpPr>
          <p:cNvPr id="21" name="Текст 111"/>
          <p:cNvSpPr txBox="1"/>
          <p:nvPr/>
        </p:nvSpPr>
        <p:spPr>
          <a:xfrm>
            <a:off x="804672" y="3639312"/>
            <a:ext cx="30031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Класс A, сумма в лимите, есть опыт погашения кредитов, балл бюро от 650</a:t>
            </a:r>
            <a:endParaRPr lang="en-US" sz="1300" dirty="0"/>
          </a:p>
        </p:txBody>
      </p:sp>
      <p:sp>
        <p:nvSpPr>
          <p:cNvPr id="22" name="Текст 112"/>
          <p:cNvSpPr txBox="1"/>
          <p:nvPr/>
        </p:nvSpPr>
        <p:spPr>
          <a:xfrm>
            <a:off x="804672" y="4498848"/>
            <a:ext cx="30031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Предложение сразу: платёж, ставка, переплата, график</a:t>
            </a:r>
            <a:endParaRPr lang="en-US" sz="1200" dirty="0"/>
          </a:p>
        </p:txBody>
      </p:sp>
      <p:sp>
        <p:nvSpPr>
          <p:cNvPr id="23" name="Карточка 113"/>
          <p:cNvSpPr/>
          <p:nvPr/>
        </p:nvSpPr>
        <p:spPr>
          <a:xfrm>
            <a:off x="4338218" y="30175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E8ECF4"/>
          </a:solidFill>
          <a:ln/>
        </p:spPr>
      </p:sp>
      <p:sp>
        <p:nvSpPr>
          <p:cNvPr id="24" name="Круг 114"/>
          <p:cNvSpPr/>
          <p:nvPr/>
        </p:nvSpPr>
        <p:spPr>
          <a:xfrm>
            <a:off x="4594250" y="324612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Текст 115"/>
          <p:cNvSpPr txBox="1"/>
          <p:nvPr/>
        </p:nvSpPr>
        <p:spPr>
          <a:xfrm>
            <a:off x="4886858" y="3172968"/>
            <a:ext cx="26922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Сотрудник банка</a:t>
            </a:r>
            <a:endParaRPr lang="en-US" sz="1500" dirty="0"/>
          </a:p>
        </p:txBody>
      </p:sp>
      <p:sp>
        <p:nvSpPr>
          <p:cNvPr id="26" name="Текст 116"/>
          <p:cNvSpPr txBox="1"/>
          <p:nvPr/>
        </p:nvSpPr>
        <p:spPr>
          <a:xfrm>
            <a:off x="4594250" y="3639312"/>
            <a:ext cx="30031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Всё остальное — и любая заявка с пробелами в данных</a:t>
            </a:r>
            <a:endParaRPr lang="en-US" sz="1300" dirty="0"/>
          </a:p>
        </p:txBody>
      </p:sp>
      <p:sp>
        <p:nvSpPr>
          <p:cNvPr id="27" name="Текст 117"/>
          <p:cNvSpPr txBox="1"/>
          <p:nvPr/>
        </p:nvSpPr>
        <p:spPr>
          <a:xfrm>
            <a:off x="4594250" y="4498848"/>
            <a:ext cx="30031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Рекомендация системы и четыре действия аналитика</a:t>
            </a:r>
            <a:endParaRPr lang="en-US" sz="1200" dirty="0"/>
          </a:p>
        </p:txBody>
      </p:sp>
      <p:sp>
        <p:nvSpPr>
          <p:cNvPr id="28" name="Карточка 118"/>
          <p:cNvSpPr/>
          <p:nvPr/>
        </p:nvSpPr>
        <p:spPr>
          <a:xfrm>
            <a:off x="8127797" y="30175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DE4E1"/>
          </a:solidFill>
          <a:ln/>
        </p:spPr>
      </p:sp>
      <p:sp>
        <p:nvSpPr>
          <p:cNvPr id="29" name="Круг 119"/>
          <p:cNvSpPr/>
          <p:nvPr/>
        </p:nvSpPr>
        <p:spPr>
          <a:xfrm>
            <a:off x="8383829" y="324612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Текст 120"/>
          <p:cNvSpPr txBox="1"/>
          <p:nvPr/>
        </p:nvSpPr>
        <p:spPr>
          <a:xfrm>
            <a:off x="8676437" y="3172968"/>
            <a:ext cx="26922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Автоотказ</a:t>
            </a:r>
            <a:endParaRPr lang="en-US" sz="1500" dirty="0"/>
          </a:p>
        </p:txBody>
      </p:sp>
      <p:sp>
        <p:nvSpPr>
          <p:cNvPr id="31" name="Текст 121"/>
          <p:cNvSpPr txBox="1"/>
          <p:nvPr/>
        </p:nvSpPr>
        <p:spPr>
          <a:xfrm>
            <a:off x="8383829" y="3639312"/>
            <a:ext cx="30031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Стоп-фактор: компания не действует, банкротство, просрочка больше 90 дней и ещё три</a:t>
            </a:r>
            <a:endParaRPr lang="en-US" sz="1300" dirty="0"/>
          </a:p>
        </p:txBody>
      </p:sp>
      <p:sp>
        <p:nvSpPr>
          <p:cNvPr id="32" name="Текст 122"/>
          <p:cNvSpPr txBox="1"/>
          <p:nvPr/>
        </p:nvSpPr>
        <p:spPr>
          <a:xfrm>
            <a:off x="8383829" y="4498848"/>
            <a:ext cx="30031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Причина простыми словами и совет, что делать дальше</a:t>
            </a:r>
            <a:endParaRPr lang="en-US" sz="1200" dirty="0"/>
          </a:p>
        </p:txBody>
      </p:sp>
      <p:sp>
        <p:nvSpPr>
          <p:cNvPr id="33" name="Текст 123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Пробел в данных никогда не превращается в автоматическое решение: такую заявку смотрит человек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КАБИНЕТ ПРЕДПРИНИМАТЕЛЯ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Клиенту не нужно разбираться в банке</a:t>
            </a:r>
            <a:endParaRPr lang="en-US" sz="2600" dirty="0"/>
          </a:p>
        </p:txBody>
      </p:sp>
      <p:sp>
        <p:nvSpPr>
          <p:cNvPr id="4" name="Круг 124"/>
          <p:cNvSpPr/>
          <p:nvPr/>
        </p:nvSpPr>
        <p:spPr>
          <a:xfrm>
            <a:off x="548640" y="185623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Текст 125"/>
          <p:cNvSpPr txBox="1"/>
          <p:nvPr/>
        </p:nvSpPr>
        <p:spPr>
          <a:xfrm>
            <a:off x="868680" y="17830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Регистрация по ИНН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компания — из реестра, без SMS и писем</a:t>
            </a:r>
            <a:endParaRPr lang="en-US" sz="1300" dirty="0"/>
          </a:p>
        </p:txBody>
      </p:sp>
      <p:sp>
        <p:nvSpPr>
          <p:cNvPr id="6" name="Круг 126"/>
          <p:cNvSpPr/>
          <p:nvPr/>
        </p:nvSpPr>
        <p:spPr>
          <a:xfrm>
            <a:off x="548640" y="249631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Текст 127"/>
          <p:cNvSpPr txBox="1"/>
          <p:nvPr/>
        </p:nvSpPr>
        <p:spPr>
          <a:xfrm>
            <a:off x="868680" y="24231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Помощник подбирает продукт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 описанию потребности своими словами</a:t>
            </a:r>
            <a:endParaRPr lang="en-US" sz="1300" dirty="0"/>
          </a:p>
        </p:txBody>
      </p:sp>
      <p:sp>
        <p:nvSpPr>
          <p:cNvPr id="8" name="Круг 128"/>
          <p:cNvSpPr/>
          <p:nvPr/>
        </p:nvSpPr>
        <p:spPr>
          <a:xfrm>
            <a:off x="548640" y="313639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Текст 129"/>
          <p:cNvSpPr txBox="1"/>
          <p:nvPr/>
        </p:nvSpPr>
        <p:spPr>
          <a:xfrm>
            <a:off x="868680" y="30632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Ничего не вводится дважды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данные компании уже в заявке</a:t>
            </a:r>
            <a:endParaRPr lang="en-US" sz="1300" dirty="0"/>
          </a:p>
        </p:txBody>
      </p:sp>
      <p:sp>
        <p:nvSpPr>
          <p:cNvPr id="10" name="Круг 130"/>
          <p:cNvSpPr/>
          <p:nvPr/>
        </p:nvSpPr>
        <p:spPr>
          <a:xfrm>
            <a:off x="548640" y="377647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Текст 131"/>
          <p:cNvSpPr txBox="1"/>
          <p:nvPr/>
        </p:nvSpPr>
        <p:spPr>
          <a:xfrm>
            <a:off x="868680" y="37033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Статус обновляется сам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маршрут виден, страница не перезагружается</a:t>
            </a:r>
            <a:endParaRPr lang="en-US" sz="1300" dirty="0"/>
          </a:p>
        </p:txBody>
      </p:sp>
      <p:sp>
        <p:nvSpPr>
          <p:cNvPr id="12" name="Круг 132"/>
          <p:cNvSpPr/>
          <p:nvPr/>
        </p:nvSpPr>
        <p:spPr>
          <a:xfrm>
            <a:off x="548640" y="441655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Текст 133"/>
          <p:cNvSpPr txBox="1"/>
          <p:nvPr/>
        </p:nvSpPr>
        <p:spPr>
          <a:xfrm>
            <a:off x="868680" y="434340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Предложение без мелкого шрифта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платёж, переплата за весь срок, график</a:t>
            </a:r>
            <a:endParaRPr lang="en-US" sz="1300" dirty="0"/>
          </a:p>
        </p:txBody>
      </p:sp>
      <p:sp>
        <p:nvSpPr>
          <p:cNvPr id="14" name="Круг 134"/>
          <p:cNvSpPr/>
          <p:nvPr/>
        </p:nvSpPr>
        <p:spPr>
          <a:xfrm>
            <a:off x="548640" y="505663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Текст 135"/>
          <p:cNvSpPr txBox="1"/>
          <p:nvPr/>
        </p:nvSpPr>
        <p:spPr>
          <a:xfrm>
            <a:off x="868680" y="49834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Встречные условия и отказ с причинами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что изменилось, почему и что делать дальше</a:t>
            </a:r>
            <a:endParaRPr lang="en-US" sz="1300" dirty="0"/>
          </a:p>
        </p:txBody>
      </p:sp>
      <p:sp>
        <p:nvSpPr>
          <p:cNvPr id="16" name="Круг 136"/>
          <p:cNvSpPr/>
          <p:nvPr/>
        </p:nvSpPr>
        <p:spPr>
          <a:xfrm>
            <a:off x="548640" y="569671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Текст 137"/>
          <p:cNvSpPr txBox="1"/>
          <p:nvPr/>
        </p:nvSpPr>
        <p:spPr>
          <a:xfrm>
            <a:off x="868680" y="56235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Лента и чат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подсказки под бизнес и живой сотрудник</a:t>
            </a:r>
            <a:endParaRPr lang="en-US" sz="1300" dirty="0"/>
          </a:p>
        </p:txBody>
      </p:sp>
      <p:sp>
        <p:nvSpPr>
          <p:cNvPr id="18" name="Круг 138"/>
          <p:cNvSpPr/>
          <p:nvPr/>
        </p:nvSpPr>
        <p:spPr>
          <a:xfrm>
            <a:off x="10241280" y="320040"/>
            <a:ext cx="1554480" cy="1554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Круг 139"/>
          <p:cNvSpPr/>
          <p:nvPr/>
        </p:nvSpPr>
        <p:spPr>
          <a:xfrm>
            <a:off x="5669280" y="5394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Скриншот assistant" descr="Помощник подбирает продук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91640"/>
            <a:ext cx="4160520" cy="234696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pic>
        <p:nvPicPr>
          <p:cNvPr id="21" name="Скриншот offer" descr="Предложение банка: платёж, ставка, перепла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880360"/>
            <a:ext cx="3657600" cy="3020747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уг 140"/>
          <p:cNvSpPr/>
          <p:nvPr/>
        </p:nvSpPr>
        <p:spPr>
          <a:xfrm>
            <a:off x="7498080" y="914400"/>
            <a:ext cx="5120640" cy="5120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Круг 141"/>
          <p:cNvSpPr/>
          <p:nvPr/>
        </p:nvSpPr>
        <p:spPr>
          <a:xfrm>
            <a:off x="6675120" y="448056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Круг 142"/>
          <p:cNvSpPr/>
          <p:nvPr/>
        </p:nvSpPr>
        <p:spPr>
          <a:xfrm>
            <a:off x="11247120" y="54864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" name="Круг 143"/>
          <p:cNvSpPr/>
          <p:nvPr/>
        </p:nvSpPr>
        <p:spPr>
          <a:xfrm>
            <a:off x="10607040" y="5257800"/>
            <a:ext cx="914400" cy="91440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6" name="Текст 144"/>
          <p:cNvSpPr txBox="1"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ФИНАНСОВОЕ ЯДРО</a:t>
            </a:r>
            <a:endParaRPr lang="en-US" sz="1200" dirty="0"/>
          </a:p>
        </p:txBody>
      </p:sp>
      <p:sp>
        <p:nvSpPr>
          <p:cNvPr id="7" name="Текст 145"/>
          <p:cNvSpPr txBox="1"/>
          <p:nvPr/>
        </p:nvSpPr>
        <p:spPr>
          <a:xfrm>
            <a:off x="548640" y="22860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Как «Матрица» считает кредит</a:t>
            </a:r>
            <a:endParaRPr lang="en-US" sz="4000" dirty="0"/>
          </a:p>
        </p:txBody>
      </p:sp>
      <p:sp>
        <p:nvSpPr>
          <p:cNvPr id="8" name="Текст 146"/>
          <p:cNvSpPr txBox="1"/>
          <p:nvPr/>
        </p:nvSpPr>
        <p:spPr>
          <a:xfrm>
            <a:off x="548640" y="4206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Риск, цена и доступность платежа — тремя прозрачными расчётами, которые аналитик видит целиком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ОЦЕНКА РИСКА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Три вопроса вместо одного балла</a:t>
            </a:r>
            <a:endParaRPr lang="en-US" sz="2600" dirty="0"/>
          </a:p>
        </p:txBody>
      </p:sp>
      <p:sp>
        <p:nvSpPr>
          <p:cNvPr id="4" name="Карточка 147"/>
          <p:cNvSpPr/>
          <p:nvPr/>
        </p:nvSpPr>
        <p:spPr>
          <a:xfrm>
            <a:off x="548640" y="1783080"/>
            <a:ext cx="3515258" cy="379476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5" name="Текст 148"/>
          <p:cNvSpPr txBox="1"/>
          <p:nvPr/>
        </p:nvSpPr>
        <p:spPr>
          <a:xfrm>
            <a:off x="86868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Текст 149"/>
          <p:cNvSpPr txBox="1"/>
          <p:nvPr/>
        </p:nvSpPr>
        <p:spPr>
          <a:xfrm>
            <a:off x="868680" y="26974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Насколько надёжна заявка?</a:t>
            </a:r>
            <a:endParaRPr lang="en-US" sz="1900" dirty="0"/>
          </a:p>
        </p:txBody>
      </p:sp>
      <p:sp>
        <p:nvSpPr>
          <p:cNvPr id="7" name="Карточка 150"/>
          <p:cNvSpPr/>
          <p:nvPr/>
        </p:nvSpPr>
        <p:spPr>
          <a:xfrm>
            <a:off x="868680" y="3566160"/>
            <a:ext cx="2875178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Текст 151"/>
          <p:cNvSpPr txBox="1"/>
          <p:nvPr/>
        </p:nvSpPr>
        <p:spPr>
          <a:xfrm>
            <a:off x="1005840" y="3566160"/>
            <a:ext cx="2600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 критериев → класс A–D → PD</a:t>
            </a:r>
            <a:endParaRPr lang="en-US" sz="1400" dirty="0"/>
          </a:p>
        </p:txBody>
      </p:sp>
      <p:sp>
        <p:nvSpPr>
          <p:cNvPr id="9" name="Текст 152"/>
          <p:cNvSpPr txBox="1"/>
          <p:nvPr/>
        </p:nvSpPr>
        <p:spPr>
          <a:xfrm>
            <a:off x="868680" y="46634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Класс решает, кто принимает решение и какой будет ставка</a:t>
            </a:r>
            <a:endParaRPr lang="en-US" sz="1300" dirty="0"/>
          </a:p>
        </p:txBody>
      </p:sp>
      <p:sp>
        <p:nvSpPr>
          <p:cNvPr id="10" name="Карточка 153"/>
          <p:cNvSpPr/>
          <p:nvPr/>
        </p:nvSpPr>
        <p:spPr>
          <a:xfrm>
            <a:off x="4338218" y="1783080"/>
            <a:ext cx="3515258" cy="3794760"/>
          </a:xfrm>
          <a:prstGeom prst="roundRect">
            <a:avLst>
              <a:gd name="adj" fmla="val 3642"/>
            </a:avLst>
          </a:prstGeom>
          <a:solidFill>
            <a:schemeClr val="tx2"/>
          </a:solidFill>
          <a:ln/>
        </p:spPr>
      </p:sp>
      <p:sp>
        <p:nvSpPr>
          <p:cNvPr id="11" name="Текст 154"/>
          <p:cNvSpPr txBox="1"/>
          <p:nvPr/>
        </p:nvSpPr>
        <p:spPr>
          <a:xfrm>
            <a:off x="4658258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Текст 155"/>
          <p:cNvSpPr txBox="1"/>
          <p:nvPr/>
        </p:nvSpPr>
        <p:spPr>
          <a:xfrm>
            <a:off x="4658258" y="26974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Сколько может потерять банк?</a:t>
            </a:r>
            <a:endParaRPr lang="en-US" sz="1900" dirty="0"/>
          </a:p>
        </p:txBody>
      </p:sp>
      <p:sp>
        <p:nvSpPr>
          <p:cNvPr id="13" name="Карточка 156"/>
          <p:cNvSpPr/>
          <p:nvPr/>
        </p:nvSpPr>
        <p:spPr>
          <a:xfrm>
            <a:off x="4658258" y="3566160"/>
            <a:ext cx="2875178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4" name="Текст 157"/>
          <p:cNvSpPr txBox="1"/>
          <p:nvPr/>
        </p:nvSpPr>
        <p:spPr>
          <a:xfrm>
            <a:off x="4795418" y="3566160"/>
            <a:ext cx="2600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 = PD × LGD × EAD</a:t>
            </a:r>
            <a:endParaRPr lang="en-US" sz="1400" dirty="0"/>
          </a:p>
        </p:txBody>
      </p:sp>
      <p:sp>
        <p:nvSpPr>
          <p:cNvPr id="15" name="Текст 158"/>
          <p:cNvSpPr txBox="1"/>
          <p:nvPr/>
        </p:nvSpPr>
        <p:spPr>
          <a:xfrm>
            <a:off x="4658258" y="46634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Ожидаемые потери в рублях — основа надбавки за риск</a:t>
            </a:r>
            <a:endParaRPr lang="en-US" sz="1300" dirty="0"/>
          </a:p>
        </p:txBody>
      </p:sp>
      <p:sp>
        <p:nvSpPr>
          <p:cNvPr id="16" name="Карточка 159"/>
          <p:cNvSpPr/>
          <p:nvPr/>
        </p:nvSpPr>
        <p:spPr>
          <a:xfrm>
            <a:off x="8127797" y="1783080"/>
            <a:ext cx="3515258" cy="379476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7" name="Текст 160"/>
          <p:cNvSpPr txBox="1"/>
          <p:nvPr/>
        </p:nvSpPr>
        <p:spPr>
          <a:xfrm>
            <a:off x="8447837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Текст 161"/>
          <p:cNvSpPr txBox="1"/>
          <p:nvPr/>
        </p:nvSpPr>
        <p:spPr>
          <a:xfrm>
            <a:off x="8447837" y="26974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Потянет ли бизнес платёж?</a:t>
            </a:r>
            <a:endParaRPr lang="en-US" sz="1900" dirty="0"/>
          </a:p>
        </p:txBody>
      </p:sp>
      <p:sp>
        <p:nvSpPr>
          <p:cNvPr id="19" name="Карточка 162"/>
          <p:cNvSpPr/>
          <p:nvPr/>
        </p:nvSpPr>
        <p:spPr>
          <a:xfrm>
            <a:off x="8447837" y="3566160"/>
            <a:ext cx="2875178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0" name="Текст 163"/>
          <p:cNvSpPr txBox="1"/>
          <p:nvPr/>
        </p:nvSpPr>
        <p:spPr>
          <a:xfrm>
            <a:off x="8584997" y="3566160"/>
            <a:ext cx="2600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Нагрузка ≤ 30 %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DSCR ≥ 1,25</a:t>
            </a:r>
            <a:endParaRPr lang="en-US" sz="1400" dirty="0"/>
          </a:p>
        </p:txBody>
      </p:sp>
      <p:sp>
        <p:nvSpPr>
          <p:cNvPr id="21" name="Текст 164"/>
          <p:cNvSpPr txBox="1"/>
          <p:nvPr/>
        </p:nvSpPr>
        <p:spPr>
          <a:xfrm>
            <a:off x="8447837" y="46634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Предельная сумма: из неё рождается встречное предложение</a:t>
            </a:r>
            <a:endParaRPr lang="en-US" sz="1300" dirty="0"/>
          </a:p>
        </p:txBody>
      </p:sp>
      <p:sp>
        <p:nvSpPr>
          <p:cNvPr id="22" name="Карточка 165"/>
          <p:cNvSpPr/>
          <p:nvPr/>
        </p:nvSpPr>
        <p:spPr>
          <a:xfrm>
            <a:off x="548640" y="5715000"/>
            <a:ext cx="11094415" cy="5029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3" name="Текст 166"/>
          <p:cNvSpPr txBox="1"/>
          <p:nvPr/>
        </p:nvSpPr>
        <p:spPr>
          <a:xfrm>
            <a:off x="822960" y="57150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PD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вероятность дефолта   ·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LGD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доля потерь при дефолте   ·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EAD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сумма под риском   ·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DSCR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денежный поток / платежи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СКОРИНГОВАЯ КАРТА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 критериев, 100 баллов, 4 класса</a:t>
            </a:r>
            <a:endParaRPr lang="en-US" sz="2600" dirty="0"/>
          </a:p>
        </p:txBody>
      </p:sp>
      <p:sp>
        <p:nvSpPr>
          <p:cNvPr id="4" name="Карточка 167"/>
          <p:cNvSpPr/>
          <p:nvPr/>
        </p:nvSpPr>
        <p:spPr>
          <a:xfrm>
            <a:off x="347472" y="1691640"/>
            <a:ext cx="6949440" cy="3977640"/>
          </a:xfrm>
          <a:prstGeom prst="roundRect">
            <a:avLst>
              <a:gd name="adj" fmla="val 3678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sp>
      <p:sp>
        <p:nvSpPr>
          <p:cNvPr id="5" name="Текст 168"/>
          <p:cNvSpPr txBox="1"/>
          <p:nvPr/>
        </p:nvSpPr>
        <p:spPr>
          <a:xfrm>
            <a:off x="685800" y="1847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Баллы по критериям</a:t>
            </a:r>
            <a:endParaRPr lang="en-US" sz="1400" dirty="0"/>
          </a:p>
        </p:txBody>
      </p:sp>
      <p:sp>
        <p:nvSpPr>
          <p:cNvPr id="6" name="Текст 169"/>
          <p:cNvSpPr txBox="1"/>
          <p:nvPr/>
        </p:nvSpPr>
        <p:spPr>
          <a:xfrm>
            <a:off x="512064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всего </a:t>
            </a:r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</a:t>
            </a:r>
            <a:endParaRPr lang="en-US" sz="1400" dirty="0"/>
          </a:p>
        </p:txBody>
      </p:sp>
      <p:sp>
        <p:nvSpPr>
          <p:cNvPr id="7" name="Круг 170"/>
          <p:cNvSpPr/>
          <p:nvPr/>
        </p:nvSpPr>
        <p:spPr>
          <a:xfrm>
            <a:off x="690372" y="229057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Текст 171"/>
          <p:cNvSpPr txBox="1"/>
          <p:nvPr/>
        </p:nvSpPr>
        <p:spPr>
          <a:xfrm>
            <a:off x="128016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DSCR — покрытие долга</a:t>
            </a:r>
            <a:endParaRPr lang="en-US" sz="1300" dirty="0"/>
          </a:p>
        </p:txBody>
      </p:sp>
      <p:sp>
        <p:nvSpPr>
          <p:cNvPr id="9" name="Текст 172"/>
          <p:cNvSpPr txBox="1"/>
          <p:nvPr/>
        </p:nvSpPr>
        <p:spPr>
          <a:xfrm>
            <a:off x="338328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</a:t>
            </a:r>
            <a:endParaRPr lang="en-US" sz="1400" dirty="0"/>
          </a:p>
        </p:txBody>
      </p:sp>
      <p:sp>
        <p:nvSpPr>
          <p:cNvPr id="10" name="Круг 173"/>
          <p:cNvSpPr/>
          <p:nvPr/>
        </p:nvSpPr>
        <p:spPr>
          <a:xfrm>
            <a:off x="690372" y="283921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Текст 174"/>
          <p:cNvSpPr txBox="1"/>
          <p:nvPr/>
        </p:nvSpPr>
        <p:spPr>
          <a:xfrm>
            <a:off x="128016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Просрочки за 36 месяцев</a:t>
            </a:r>
            <a:endParaRPr lang="en-US" sz="1300" dirty="0"/>
          </a:p>
        </p:txBody>
      </p:sp>
      <p:sp>
        <p:nvSpPr>
          <p:cNvPr id="12" name="Текст 175"/>
          <p:cNvSpPr txBox="1"/>
          <p:nvPr/>
        </p:nvSpPr>
        <p:spPr>
          <a:xfrm>
            <a:off x="3383280" y="2834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</a:t>
            </a:r>
            <a:endParaRPr lang="en-US" sz="1400" dirty="0"/>
          </a:p>
        </p:txBody>
      </p:sp>
      <p:sp>
        <p:nvSpPr>
          <p:cNvPr id="13" name="Круг 176"/>
          <p:cNvSpPr/>
          <p:nvPr/>
        </p:nvSpPr>
        <p:spPr>
          <a:xfrm>
            <a:off x="745236" y="34427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Текст 177"/>
          <p:cNvSpPr txBox="1"/>
          <p:nvPr/>
        </p:nvSpPr>
        <p:spPr>
          <a:xfrm>
            <a:off x="128016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Долг / EBITDA</a:t>
            </a:r>
            <a:endParaRPr lang="en-US" sz="1300" dirty="0"/>
          </a:p>
        </p:txBody>
      </p:sp>
      <p:sp>
        <p:nvSpPr>
          <p:cNvPr id="15" name="Текст 178"/>
          <p:cNvSpPr txBox="1"/>
          <p:nvPr/>
        </p:nvSpPr>
        <p:spPr>
          <a:xfrm>
            <a:off x="3383280" y="3383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Круг 179"/>
          <p:cNvSpPr/>
          <p:nvPr/>
        </p:nvSpPr>
        <p:spPr>
          <a:xfrm>
            <a:off x="745236" y="39913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Текст 180"/>
          <p:cNvSpPr txBox="1"/>
          <p:nvPr/>
        </p:nvSpPr>
        <p:spPr>
          <a:xfrm>
            <a:off x="1280160" y="3931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Рентабельность и выручка</a:t>
            </a:r>
            <a:endParaRPr lang="en-US" sz="1300" dirty="0"/>
          </a:p>
        </p:txBody>
      </p:sp>
      <p:sp>
        <p:nvSpPr>
          <p:cNvPr id="18" name="Текст 181"/>
          <p:cNvSpPr txBox="1"/>
          <p:nvPr/>
        </p:nvSpPr>
        <p:spPr>
          <a:xfrm>
            <a:off x="3383280" y="3931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Круг 182"/>
          <p:cNvSpPr/>
          <p:nvPr/>
        </p:nvSpPr>
        <p:spPr>
          <a:xfrm>
            <a:off x="745236" y="45399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Текст 183"/>
          <p:cNvSpPr txBox="1"/>
          <p:nvPr/>
        </p:nvSpPr>
        <p:spPr>
          <a:xfrm>
            <a:off x="128016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Действующие обязательства</a:t>
            </a:r>
            <a:endParaRPr lang="en-US" sz="1300" dirty="0"/>
          </a:p>
        </p:txBody>
      </p:sp>
      <p:sp>
        <p:nvSpPr>
          <p:cNvPr id="21" name="Текст 184"/>
          <p:cNvSpPr txBox="1"/>
          <p:nvPr/>
        </p:nvSpPr>
        <p:spPr>
          <a:xfrm>
            <a:off x="3383280" y="4480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Круг 185"/>
          <p:cNvSpPr/>
          <p:nvPr/>
        </p:nvSpPr>
        <p:spPr>
          <a:xfrm>
            <a:off x="745236" y="508863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Текст 186"/>
          <p:cNvSpPr txBox="1"/>
          <p:nvPr/>
        </p:nvSpPr>
        <p:spPr>
          <a:xfrm>
            <a:off x="1280160" y="5029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Возраст бизнеса</a:t>
            </a:r>
            <a:endParaRPr lang="en-US" sz="1300" dirty="0"/>
          </a:p>
        </p:txBody>
      </p:sp>
      <p:sp>
        <p:nvSpPr>
          <p:cNvPr id="24" name="Текст 187"/>
          <p:cNvSpPr txBox="1"/>
          <p:nvPr/>
        </p:nvSpPr>
        <p:spPr>
          <a:xfrm>
            <a:off x="3383280" y="5029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Круг 188"/>
          <p:cNvSpPr/>
          <p:nvPr/>
        </p:nvSpPr>
        <p:spPr>
          <a:xfrm>
            <a:off x="4137660" y="240030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6" name="Текст 189"/>
          <p:cNvSpPr txBox="1"/>
          <p:nvPr/>
        </p:nvSpPr>
        <p:spPr>
          <a:xfrm>
            <a:off x="461772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Ликвидность</a:t>
            </a:r>
            <a:endParaRPr lang="en-US" sz="1300" dirty="0"/>
          </a:p>
        </p:txBody>
      </p:sp>
      <p:sp>
        <p:nvSpPr>
          <p:cNvPr id="27" name="Текст 190"/>
          <p:cNvSpPr txBox="1"/>
          <p:nvPr/>
        </p:nvSpPr>
        <p:spPr>
          <a:xfrm>
            <a:off x="672084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Круг 191"/>
          <p:cNvSpPr/>
          <p:nvPr/>
        </p:nvSpPr>
        <p:spPr>
          <a:xfrm>
            <a:off x="4137660" y="294894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Текст 192"/>
          <p:cNvSpPr txBox="1"/>
          <p:nvPr/>
        </p:nvSpPr>
        <p:spPr>
          <a:xfrm>
            <a:off x="461772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Отраслевой риск</a:t>
            </a:r>
            <a:endParaRPr lang="en-US" sz="1300" dirty="0"/>
          </a:p>
        </p:txBody>
      </p:sp>
      <p:sp>
        <p:nvSpPr>
          <p:cNvPr id="30" name="Текст 193"/>
          <p:cNvSpPr txBox="1"/>
          <p:nvPr/>
        </p:nvSpPr>
        <p:spPr>
          <a:xfrm>
            <a:off x="6720840" y="2834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Круг 194"/>
          <p:cNvSpPr/>
          <p:nvPr/>
        </p:nvSpPr>
        <p:spPr>
          <a:xfrm>
            <a:off x="4137660" y="349758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2" name="Текст 195"/>
          <p:cNvSpPr txBox="1"/>
          <p:nvPr/>
        </p:nvSpPr>
        <p:spPr>
          <a:xfrm>
            <a:off x="461772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Аномалии в выписке</a:t>
            </a:r>
            <a:endParaRPr lang="en-US" sz="1300" dirty="0"/>
          </a:p>
        </p:txBody>
      </p:sp>
      <p:sp>
        <p:nvSpPr>
          <p:cNvPr id="33" name="Текст 196"/>
          <p:cNvSpPr txBox="1"/>
          <p:nvPr/>
        </p:nvSpPr>
        <p:spPr>
          <a:xfrm>
            <a:off x="6720840" y="3383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Круг 197"/>
          <p:cNvSpPr/>
          <p:nvPr/>
        </p:nvSpPr>
        <p:spPr>
          <a:xfrm>
            <a:off x="4137660" y="404622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5" name="Текст 198"/>
          <p:cNvSpPr txBox="1"/>
          <p:nvPr/>
        </p:nvSpPr>
        <p:spPr>
          <a:xfrm>
            <a:off x="4617720" y="3931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Репутация и суды</a:t>
            </a:r>
            <a:endParaRPr lang="en-US" sz="1300" dirty="0"/>
          </a:p>
        </p:txBody>
      </p:sp>
      <p:sp>
        <p:nvSpPr>
          <p:cNvPr id="36" name="Текст 199"/>
          <p:cNvSpPr txBox="1"/>
          <p:nvPr/>
        </p:nvSpPr>
        <p:spPr>
          <a:xfrm>
            <a:off x="6720840" y="3931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Круг 200"/>
          <p:cNvSpPr/>
          <p:nvPr/>
        </p:nvSpPr>
        <p:spPr>
          <a:xfrm>
            <a:off x="4137660" y="459486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8" name="Текст 201"/>
          <p:cNvSpPr txBox="1"/>
          <p:nvPr/>
        </p:nvSpPr>
        <p:spPr>
          <a:xfrm>
            <a:off x="461772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Обеспечение</a:t>
            </a:r>
            <a:endParaRPr lang="en-US" sz="1300" dirty="0"/>
          </a:p>
        </p:txBody>
      </p:sp>
      <p:sp>
        <p:nvSpPr>
          <p:cNvPr id="39" name="Текст 202"/>
          <p:cNvSpPr txBox="1"/>
          <p:nvPr/>
        </p:nvSpPr>
        <p:spPr>
          <a:xfrm>
            <a:off x="6720840" y="4480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Круг 203"/>
          <p:cNvSpPr/>
          <p:nvPr/>
        </p:nvSpPr>
        <p:spPr>
          <a:xfrm>
            <a:off x="4137660" y="514350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1" name="Текст 204"/>
          <p:cNvSpPr txBox="1"/>
          <p:nvPr/>
        </p:nvSpPr>
        <p:spPr>
          <a:xfrm>
            <a:off x="4617720" y="5029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Цель и сумма</a:t>
            </a:r>
            <a:endParaRPr lang="en-US" sz="1300" dirty="0"/>
          </a:p>
        </p:txBody>
      </p:sp>
      <p:sp>
        <p:nvSpPr>
          <p:cNvPr id="42" name="Текст 205"/>
          <p:cNvSpPr txBox="1"/>
          <p:nvPr/>
        </p:nvSpPr>
        <p:spPr>
          <a:xfrm>
            <a:off x="6720840" y="5029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Текст 206"/>
          <p:cNvSpPr txBox="1"/>
          <p:nvPr/>
        </p:nvSpPr>
        <p:spPr>
          <a:xfrm>
            <a:off x="347472" y="57790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Веса — из таблицы кредитного аналитика, размер круга — вес. 590-П — категория качества ссуды по Положению Банка России.</a:t>
            </a:r>
            <a:endParaRPr lang="en-US" sz="1000" dirty="0"/>
          </a:p>
        </p:txBody>
      </p:sp>
      <p:sp>
        <p:nvSpPr>
          <p:cNvPr id="44" name="Текст 207"/>
          <p:cNvSpPr txBox="1"/>
          <p:nvPr/>
        </p:nvSpPr>
        <p:spPr>
          <a:xfrm>
            <a:off x="754380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Класс</a:t>
            </a:r>
            <a:endParaRPr lang="en-US" sz="1000" dirty="0"/>
          </a:p>
        </p:txBody>
      </p:sp>
      <p:sp>
        <p:nvSpPr>
          <p:cNvPr id="45" name="Текст 208"/>
          <p:cNvSpPr txBox="1"/>
          <p:nvPr/>
        </p:nvSpPr>
        <p:spPr>
          <a:xfrm>
            <a:off x="832104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Баллы</a:t>
            </a:r>
            <a:endParaRPr lang="en-US" sz="1000" dirty="0"/>
          </a:p>
        </p:txBody>
      </p:sp>
      <p:sp>
        <p:nvSpPr>
          <p:cNvPr id="46" name="Текст 209"/>
          <p:cNvSpPr txBox="1"/>
          <p:nvPr/>
        </p:nvSpPr>
        <p:spPr>
          <a:xfrm>
            <a:off x="9418320" y="1783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PD / год</a:t>
            </a:r>
            <a:endParaRPr lang="en-US" sz="1000" dirty="0"/>
          </a:p>
        </p:txBody>
      </p:sp>
      <p:sp>
        <p:nvSpPr>
          <p:cNvPr id="47" name="Текст 210"/>
          <p:cNvSpPr txBox="1"/>
          <p:nvPr/>
        </p:nvSpPr>
        <p:spPr>
          <a:xfrm>
            <a:off x="102412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590-П</a:t>
            </a:r>
            <a:endParaRPr lang="en-US" sz="1000" dirty="0"/>
          </a:p>
        </p:txBody>
      </p:sp>
      <p:sp>
        <p:nvSpPr>
          <p:cNvPr id="48" name="Карточка 211"/>
          <p:cNvSpPr/>
          <p:nvPr/>
        </p:nvSpPr>
        <p:spPr>
          <a:xfrm>
            <a:off x="7543800" y="2103120"/>
            <a:ext cx="4099255" cy="822960"/>
          </a:xfrm>
          <a:prstGeom prst="roundRect">
            <a:avLst>
              <a:gd name="adj" fmla="val 13333"/>
            </a:avLst>
          </a:prstGeom>
          <a:solidFill>
            <a:srgbClr val="E4F3EA"/>
          </a:solidFill>
          <a:ln/>
        </p:spPr>
      </p:sp>
      <p:sp>
        <p:nvSpPr>
          <p:cNvPr id="49" name="Текст 212"/>
          <p:cNvSpPr txBox="1"/>
          <p:nvPr/>
        </p:nvSpPr>
        <p:spPr>
          <a:xfrm>
            <a:off x="772668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2600" dirty="0"/>
          </a:p>
        </p:txBody>
      </p:sp>
      <p:sp>
        <p:nvSpPr>
          <p:cNvPr id="50" name="Текст 213"/>
          <p:cNvSpPr txBox="1"/>
          <p:nvPr/>
        </p:nvSpPr>
        <p:spPr>
          <a:xfrm>
            <a:off x="8321040" y="21762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80–100</a:t>
            </a:r>
            <a:endParaRPr lang="en-US" sz="1300" dirty="0"/>
          </a:p>
        </p:txBody>
      </p:sp>
      <p:sp>
        <p:nvSpPr>
          <p:cNvPr id="51" name="Текст 214"/>
          <p:cNvSpPr txBox="1"/>
          <p:nvPr/>
        </p:nvSpPr>
        <p:spPr>
          <a:xfrm>
            <a:off x="9418320" y="2176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1 %</a:t>
            </a:r>
            <a:endParaRPr lang="en-US" sz="1300" dirty="0"/>
          </a:p>
        </p:txBody>
      </p:sp>
      <p:sp>
        <p:nvSpPr>
          <p:cNvPr id="52" name="Текст 215"/>
          <p:cNvSpPr txBox="1"/>
          <p:nvPr/>
        </p:nvSpPr>
        <p:spPr>
          <a:xfrm>
            <a:off x="10241280" y="2176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I–II</a:t>
            </a:r>
            <a:endParaRPr lang="en-US" sz="1300" dirty="0"/>
          </a:p>
        </p:txBody>
      </p:sp>
      <p:sp>
        <p:nvSpPr>
          <p:cNvPr id="53" name="Текст 216"/>
          <p:cNvSpPr txBox="1"/>
          <p:nvPr/>
        </p:nvSpPr>
        <p:spPr>
          <a:xfrm>
            <a:off x="8321040" y="2523744"/>
            <a:ext cx="3184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Автоматически при чистых данных</a:t>
            </a:r>
            <a:endParaRPr lang="en-US" sz="1200" dirty="0"/>
          </a:p>
        </p:txBody>
      </p:sp>
      <p:sp>
        <p:nvSpPr>
          <p:cNvPr id="54" name="Карточка 217"/>
          <p:cNvSpPr/>
          <p:nvPr/>
        </p:nvSpPr>
        <p:spPr>
          <a:xfrm>
            <a:off x="7543800" y="3035808"/>
            <a:ext cx="4099255" cy="822960"/>
          </a:xfrm>
          <a:prstGeom prst="roundRect">
            <a:avLst>
              <a:gd name="adj" fmla="val 13333"/>
            </a:avLst>
          </a:prstGeom>
          <a:solidFill>
            <a:srgbClr val="E8ECF4"/>
          </a:solidFill>
          <a:ln/>
        </p:spPr>
      </p:sp>
      <p:sp>
        <p:nvSpPr>
          <p:cNvPr id="55" name="Текст 218"/>
          <p:cNvSpPr txBox="1"/>
          <p:nvPr/>
        </p:nvSpPr>
        <p:spPr>
          <a:xfrm>
            <a:off x="7726680" y="303580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2600" dirty="0"/>
          </a:p>
        </p:txBody>
      </p:sp>
      <p:sp>
        <p:nvSpPr>
          <p:cNvPr id="56" name="Текст 219"/>
          <p:cNvSpPr txBox="1"/>
          <p:nvPr/>
        </p:nvSpPr>
        <p:spPr>
          <a:xfrm>
            <a:off x="8321040" y="3108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50–79</a:t>
            </a:r>
            <a:endParaRPr lang="en-US" sz="1300" dirty="0"/>
          </a:p>
        </p:txBody>
      </p:sp>
      <p:sp>
        <p:nvSpPr>
          <p:cNvPr id="57" name="Текст 220"/>
          <p:cNvSpPr txBox="1"/>
          <p:nvPr/>
        </p:nvSpPr>
        <p:spPr>
          <a:xfrm>
            <a:off x="9418320" y="3108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4 %</a:t>
            </a:r>
            <a:endParaRPr lang="en-US" sz="1300" dirty="0"/>
          </a:p>
        </p:txBody>
      </p:sp>
      <p:sp>
        <p:nvSpPr>
          <p:cNvPr id="58" name="Текст 221"/>
          <p:cNvSpPr txBox="1"/>
          <p:nvPr/>
        </p:nvSpPr>
        <p:spPr>
          <a:xfrm>
            <a:off x="10241280" y="3108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II–III</a:t>
            </a:r>
            <a:endParaRPr lang="en-US" sz="1300" dirty="0"/>
          </a:p>
        </p:txBody>
      </p:sp>
      <p:sp>
        <p:nvSpPr>
          <p:cNvPr id="59" name="Текст 222"/>
          <p:cNvSpPr txBox="1"/>
          <p:nvPr/>
        </p:nvSpPr>
        <p:spPr>
          <a:xfrm>
            <a:off x="8321040" y="3456432"/>
            <a:ext cx="3184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Сотрудник, ставка с надбавкой</a:t>
            </a:r>
            <a:endParaRPr lang="en-US" sz="1200" dirty="0"/>
          </a:p>
        </p:txBody>
      </p:sp>
      <p:sp>
        <p:nvSpPr>
          <p:cNvPr id="60" name="Карточка 223"/>
          <p:cNvSpPr/>
          <p:nvPr/>
        </p:nvSpPr>
        <p:spPr>
          <a:xfrm>
            <a:off x="7543800" y="3968496"/>
            <a:ext cx="4099255" cy="822960"/>
          </a:xfrm>
          <a:prstGeom prst="roundRect">
            <a:avLst>
              <a:gd name="adj" fmla="val 13333"/>
            </a:avLst>
          </a:prstGeom>
          <a:solidFill>
            <a:srgbClr val="FDE4E1"/>
          </a:solidFill>
          <a:ln/>
        </p:spPr>
      </p:sp>
      <p:sp>
        <p:nvSpPr>
          <p:cNvPr id="61" name="Текст 224"/>
          <p:cNvSpPr txBox="1"/>
          <p:nvPr/>
        </p:nvSpPr>
        <p:spPr>
          <a:xfrm>
            <a:off x="7726680" y="396849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</a:t>
            </a:r>
            <a:endParaRPr lang="en-US" sz="2600" dirty="0"/>
          </a:p>
        </p:txBody>
      </p:sp>
      <p:sp>
        <p:nvSpPr>
          <p:cNvPr id="62" name="Текст 225"/>
          <p:cNvSpPr txBox="1"/>
          <p:nvPr/>
        </p:nvSpPr>
        <p:spPr>
          <a:xfrm>
            <a:off x="8321040" y="4041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30–49</a:t>
            </a:r>
            <a:endParaRPr lang="en-US" sz="1300" dirty="0"/>
          </a:p>
        </p:txBody>
      </p:sp>
      <p:sp>
        <p:nvSpPr>
          <p:cNvPr id="63" name="Текст 226"/>
          <p:cNvSpPr txBox="1"/>
          <p:nvPr/>
        </p:nvSpPr>
        <p:spPr>
          <a:xfrm>
            <a:off x="9418320" y="4041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10 %</a:t>
            </a:r>
            <a:endParaRPr lang="en-US" sz="1300" dirty="0"/>
          </a:p>
        </p:txBody>
      </p:sp>
      <p:sp>
        <p:nvSpPr>
          <p:cNvPr id="64" name="Текст 227"/>
          <p:cNvSpPr txBox="1"/>
          <p:nvPr/>
        </p:nvSpPr>
        <p:spPr>
          <a:xfrm>
            <a:off x="10241280" y="4041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III–IV</a:t>
            </a:r>
            <a:endParaRPr lang="en-US" sz="1300" dirty="0"/>
          </a:p>
        </p:txBody>
      </p:sp>
      <p:sp>
        <p:nvSpPr>
          <p:cNvPr id="65" name="Текст 228"/>
          <p:cNvSpPr txBox="1"/>
          <p:nvPr/>
        </p:nvSpPr>
        <p:spPr>
          <a:xfrm>
            <a:off x="8321040" y="4389120"/>
            <a:ext cx="3184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Только с обеспечением</a:t>
            </a:r>
            <a:endParaRPr lang="en-US" sz="1200" dirty="0"/>
          </a:p>
        </p:txBody>
      </p:sp>
      <p:sp>
        <p:nvSpPr>
          <p:cNvPr id="66" name="Карточка 229"/>
          <p:cNvSpPr/>
          <p:nvPr/>
        </p:nvSpPr>
        <p:spPr>
          <a:xfrm>
            <a:off x="7543800" y="4901184"/>
            <a:ext cx="4099255" cy="822960"/>
          </a:xfrm>
          <a:prstGeom prst="roundRect">
            <a:avLst>
              <a:gd name="adj" fmla="val 13333"/>
            </a:avLst>
          </a:prstGeom>
          <a:solidFill>
            <a:srgbClr val="2A2321"/>
          </a:solidFill>
          <a:ln/>
        </p:spPr>
      </p:sp>
      <p:sp>
        <p:nvSpPr>
          <p:cNvPr id="67" name="Текст 230"/>
          <p:cNvSpPr txBox="1"/>
          <p:nvPr/>
        </p:nvSpPr>
        <p:spPr>
          <a:xfrm>
            <a:off x="7726680" y="490118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2600" dirty="0"/>
          </a:p>
        </p:txBody>
      </p:sp>
      <p:sp>
        <p:nvSpPr>
          <p:cNvPr id="68" name="Текст 231"/>
          <p:cNvSpPr txBox="1"/>
          <p:nvPr/>
        </p:nvSpPr>
        <p:spPr>
          <a:xfrm>
            <a:off x="8321040" y="49743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&lt; 30</a:t>
            </a:r>
            <a:endParaRPr lang="en-US" sz="1300" dirty="0"/>
          </a:p>
        </p:txBody>
      </p:sp>
      <p:sp>
        <p:nvSpPr>
          <p:cNvPr id="69" name="Текст 232"/>
          <p:cNvSpPr txBox="1"/>
          <p:nvPr/>
        </p:nvSpPr>
        <p:spPr>
          <a:xfrm>
            <a:off x="9418320" y="4974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25 %</a:t>
            </a:r>
            <a:endParaRPr lang="en-US" sz="1300" dirty="0"/>
          </a:p>
        </p:txBody>
      </p:sp>
      <p:sp>
        <p:nvSpPr>
          <p:cNvPr id="70" name="Текст 233"/>
          <p:cNvSpPr txBox="1"/>
          <p:nvPr/>
        </p:nvSpPr>
        <p:spPr>
          <a:xfrm>
            <a:off x="10241280" y="4974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IV–V</a:t>
            </a:r>
            <a:endParaRPr lang="en-US" sz="1300" dirty="0"/>
          </a:p>
        </p:txBody>
      </p:sp>
      <p:sp>
        <p:nvSpPr>
          <p:cNvPr id="71" name="Текст 234"/>
          <p:cNvSpPr txBox="1"/>
          <p:nvPr/>
        </p:nvSpPr>
        <p:spPr>
          <a:xfrm>
            <a:off x="8321040" y="5321808"/>
            <a:ext cx="3184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Отказ с причинами; стоп-фактор — тоже D</a:t>
            </a:r>
            <a:endParaRPr lang="en-US" sz="1200" dirty="0"/>
          </a:p>
        </p:txBody>
      </p:sp>
      <p:sp>
        <p:nvSpPr>
          <p:cNvPr id="72" name="Текст 235"/>
          <p:cNvSpPr txBox="1"/>
          <p:nvPr/>
        </p:nvSpPr>
        <p:spPr>
          <a:xfrm>
            <a:off x="7543800" y="585216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Нет данных по критерию → 0 баллов и решение человека: ни автоодобрения, ни автоотказа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КЛЮЧЕВОЕ РЕШЕНИЕ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Большая сумма — другой класс</a:t>
            </a:r>
            <a:endParaRPr lang="en-US" sz="2600" dirty="0"/>
          </a:p>
        </p:txBody>
      </p:sp>
      <p:sp>
        <p:nvSpPr>
          <p:cNvPr id="4" name="Текст 236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ИП Кузнецова, салон «Лотос» · кредит на оборудование</a:t>
            </a:r>
            <a:endParaRPr lang="en-US" sz="1300" dirty="0"/>
          </a:p>
        </p:txBody>
      </p:sp>
      <p:sp>
        <p:nvSpPr>
          <p:cNvPr id="5" name="Карточка 237"/>
          <p:cNvSpPr/>
          <p:nvPr/>
        </p:nvSpPr>
        <p:spPr>
          <a:xfrm>
            <a:off x="548640" y="2057400"/>
            <a:ext cx="4800600" cy="3246120"/>
          </a:xfrm>
          <a:prstGeom prst="roundRect">
            <a:avLst>
              <a:gd name="adj" fmla="val 3944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6" name="Текст 238"/>
          <p:cNvSpPr txBox="1"/>
          <p:nvPr/>
        </p:nvSpPr>
        <p:spPr>
          <a:xfrm>
            <a:off x="868680" y="2286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ЗАПРОСИЛА</a:t>
            </a:r>
            <a:endParaRPr lang="en-US" sz="1200" dirty="0"/>
          </a:p>
        </p:txBody>
      </p:sp>
      <p:sp>
        <p:nvSpPr>
          <p:cNvPr id="7" name="Текст 239"/>
          <p:cNvSpPr txBox="1"/>
          <p:nvPr/>
        </p:nvSpPr>
        <p:spPr>
          <a:xfrm>
            <a:off x="86868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 млн ₽ · 40 мес.</a:t>
            </a:r>
            <a:endParaRPr lang="en-US" sz="2600" dirty="0"/>
          </a:p>
        </p:txBody>
      </p:sp>
      <p:sp>
        <p:nvSpPr>
          <p:cNvPr id="8" name="Текст 240"/>
          <p:cNvSpPr txBox="1"/>
          <p:nvPr/>
        </p:nvSpPr>
        <p:spPr>
          <a:xfrm>
            <a:off x="868680" y="35204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DSCR с новым платежом</a:t>
            </a:r>
            <a:endParaRPr lang="en-US" sz="1300" dirty="0"/>
          </a:p>
        </p:txBody>
      </p:sp>
      <p:sp>
        <p:nvSpPr>
          <p:cNvPr id="9" name="Текст 241"/>
          <p:cNvSpPr txBox="1"/>
          <p:nvPr/>
        </p:nvSpPr>
        <p:spPr>
          <a:xfrm>
            <a:off x="3474720" y="35204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0,24</a:t>
            </a:r>
            <a:endParaRPr lang="en-US" sz="1400" dirty="0"/>
          </a:p>
        </p:txBody>
      </p:sp>
      <p:sp>
        <p:nvSpPr>
          <p:cNvPr id="10" name="Текст 242"/>
          <p:cNvSpPr txBox="1"/>
          <p:nvPr/>
        </p:nvSpPr>
        <p:spPr>
          <a:xfrm>
            <a:off x="868680" y="3904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Платежи / выручка</a:t>
            </a:r>
            <a:endParaRPr lang="en-US" sz="1300" dirty="0"/>
          </a:p>
        </p:txBody>
      </p:sp>
      <p:sp>
        <p:nvSpPr>
          <p:cNvPr id="11" name="Текст 243"/>
          <p:cNvSpPr txBox="1"/>
          <p:nvPr/>
        </p:nvSpPr>
        <p:spPr>
          <a:xfrm>
            <a:off x="3474720" y="39044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117 %</a:t>
            </a:r>
            <a:endParaRPr lang="en-US" sz="1400" dirty="0"/>
          </a:p>
        </p:txBody>
      </p:sp>
      <p:sp>
        <p:nvSpPr>
          <p:cNvPr id="12" name="Текст 244"/>
          <p:cNvSpPr txBox="1"/>
          <p:nvPr/>
        </p:nvSpPr>
        <p:spPr>
          <a:xfrm>
            <a:off x="868680" y="42885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Ожидаемые потери</a:t>
            </a:r>
            <a:endParaRPr lang="en-US" sz="1300" dirty="0"/>
          </a:p>
        </p:txBody>
      </p:sp>
      <p:sp>
        <p:nvSpPr>
          <p:cNvPr id="13" name="Текст 245"/>
          <p:cNvSpPr txBox="1"/>
          <p:nvPr/>
        </p:nvSpPr>
        <p:spPr>
          <a:xfrm>
            <a:off x="3474720" y="42885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1,31 млн ₽</a:t>
            </a:r>
            <a:endParaRPr lang="en-US" sz="1400" dirty="0"/>
          </a:p>
        </p:txBody>
      </p:sp>
      <p:sp>
        <p:nvSpPr>
          <p:cNvPr id="14" name="Класс 246"/>
          <p:cNvSpPr/>
          <p:nvPr/>
        </p:nvSpPr>
        <p:spPr>
          <a:xfrm>
            <a:off x="868680" y="4754880"/>
            <a:ext cx="210312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5" name="Текст 247"/>
          <p:cNvSpPr txBox="1"/>
          <p:nvPr/>
        </p:nvSpPr>
        <p:spPr>
          <a:xfrm>
            <a:off x="868680" y="4754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Класс C · 45 баллов</a:t>
            </a:r>
            <a:endParaRPr lang="en-US" sz="1300" dirty="0"/>
          </a:p>
        </p:txBody>
      </p:sp>
      <p:sp>
        <p:nvSpPr>
          <p:cNvPr id="16" name="Стрелка"/>
          <p:cNvSpPr/>
          <p:nvPr/>
        </p:nvSpPr>
        <p:spPr>
          <a:xfrm>
            <a:off x="5532120" y="3383280"/>
            <a:ext cx="1005840" cy="5486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Карточка 248"/>
          <p:cNvSpPr/>
          <p:nvPr/>
        </p:nvSpPr>
        <p:spPr>
          <a:xfrm>
            <a:off x="6812280" y="2057400"/>
            <a:ext cx="4800600" cy="3246120"/>
          </a:xfrm>
          <a:prstGeom prst="roundRect">
            <a:avLst>
              <a:gd name="adj" fmla="val 3944"/>
            </a:avLst>
          </a:prstGeom>
          <a:solidFill>
            <a:schemeClr val="tx2"/>
          </a:solidFill>
          <a:ln/>
        </p:spPr>
      </p:sp>
      <p:sp>
        <p:nvSpPr>
          <p:cNvPr id="18" name="Текст 249"/>
          <p:cNvSpPr txBox="1"/>
          <p:nvPr/>
        </p:nvSpPr>
        <p:spPr>
          <a:xfrm>
            <a:off x="7132320" y="2286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СИСТЕМА РЕКОМЕНДУЕТ</a:t>
            </a:r>
            <a:endParaRPr lang="en-US" sz="1200" dirty="0"/>
          </a:p>
        </p:txBody>
      </p:sp>
      <p:sp>
        <p:nvSpPr>
          <p:cNvPr id="19" name="Текст 250"/>
          <p:cNvSpPr txBox="1"/>
          <p:nvPr/>
        </p:nvSpPr>
        <p:spPr>
          <a:xfrm>
            <a:off x="713232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2,29 млн ₽ · 40 мес.</a:t>
            </a:r>
            <a:endParaRPr lang="en-US" sz="2600" dirty="0"/>
          </a:p>
        </p:txBody>
      </p:sp>
      <p:sp>
        <p:nvSpPr>
          <p:cNvPr id="20" name="Текст 251"/>
          <p:cNvSpPr txBox="1"/>
          <p:nvPr/>
        </p:nvSpPr>
        <p:spPr>
          <a:xfrm>
            <a:off x="7132320" y="35204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Норма DSCR</a:t>
            </a:r>
            <a:endParaRPr lang="en-US" sz="1300" dirty="0"/>
          </a:p>
        </p:txBody>
      </p:sp>
      <p:sp>
        <p:nvSpPr>
          <p:cNvPr id="21" name="Текст 252"/>
          <p:cNvSpPr txBox="1"/>
          <p:nvPr/>
        </p:nvSpPr>
        <p:spPr>
          <a:xfrm>
            <a:off x="9738360" y="35204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≥ 1,25</a:t>
            </a:r>
            <a:endParaRPr lang="en-US" sz="1400" dirty="0"/>
          </a:p>
        </p:txBody>
      </p:sp>
      <p:sp>
        <p:nvSpPr>
          <p:cNvPr id="22" name="Текст 253"/>
          <p:cNvSpPr txBox="1"/>
          <p:nvPr/>
        </p:nvSpPr>
        <p:spPr>
          <a:xfrm>
            <a:off x="7132320" y="3904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Ставка</a:t>
            </a:r>
            <a:endParaRPr lang="en-US" sz="1300" dirty="0"/>
          </a:p>
        </p:txBody>
      </p:sp>
      <p:sp>
        <p:nvSpPr>
          <p:cNvPr id="23" name="Текст 254"/>
          <p:cNvSpPr txBox="1"/>
          <p:nvPr/>
        </p:nvSpPr>
        <p:spPr>
          <a:xfrm>
            <a:off x="9738360" y="39044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16,2 %</a:t>
            </a:r>
            <a:endParaRPr lang="en-US" sz="1400" dirty="0"/>
          </a:p>
        </p:txBody>
      </p:sp>
      <p:sp>
        <p:nvSpPr>
          <p:cNvPr id="24" name="Текст 255"/>
          <p:cNvSpPr txBox="1"/>
          <p:nvPr/>
        </p:nvSpPr>
        <p:spPr>
          <a:xfrm>
            <a:off x="7132320" y="42885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Платёж в месяц</a:t>
            </a:r>
            <a:endParaRPr lang="en-US" sz="1300" dirty="0"/>
          </a:p>
        </p:txBody>
      </p:sp>
      <p:sp>
        <p:nvSpPr>
          <p:cNvPr id="25" name="Текст 256"/>
          <p:cNvSpPr txBox="1"/>
          <p:nvPr/>
        </p:nvSpPr>
        <p:spPr>
          <a:xfrm>
            <a:off x="9738360" y="42885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≈ 74 468 ₽</a:t>
            </a:r>
            <a:endParaRPr lang="en-US" sz="1400" dirty="0"/>
          </a:p>
        </p:txBody>
      </p:sp>
      <p:sp>
        <p:nvSpPr>
          <p:cNvPr id="26" name="Класс 257"/>
          <p:cNvSpPr/>
          <p:nvPr/>
        </p:nvSpPr>
        <p:spPr>
          <a:xfrm>
            <a:off x="7132320" y="4754880"/>
            <a:ext cx="21031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7" name="Текст 258"/>
          <p:cNvSpPr txBox="1"/>
          <p:nvPr/>
        </p:nvSpPr>
        <p:spPr>
          <a:xfrm>
            <a:off x="7132320" y="4754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Класс B · 65 баллов</a:t>
            </a:r>
            <a:endParaRPr lang="en-US" sz="1300" dirty="0"/>
          </a:p>
        </p:txBody>
      </p:sp>
      <p:sp>
        <p:nvSpPr>
          <p:cNvPr id="28" name="Карточка 259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9" name="Текст 260"/>
          <p:cNvSpPr txBox="1"/>
          <p:nvPr/>
        </p:nvSpPr>
        <p:spPr>
          <a:xfrm>
            <a:off x="868680" y="548640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DSCR считается с платежом по новому кредиту — так решил аналитик. Слишком большая сумма честно теряет баллы, а меньшая оценивается заново, как отдельный кредит. Вместо отказа — предложение, которое бизнес потянет.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ЦЕНА РИСКА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Цена риска — в рублях, а не на глаз</a:t>
            </a:r>
            <a:endParaRPr lang="en-US" sz="2600" dirty="0"/>
          </a:p>
        </p:txBody>
      </p:sp>
      <p:pic>
        <p:nvPicPr>
          <p:cNvPr id="4" name="Скриншот el" descr="Блок ожидаемых потерь в карточке аналити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400800" cy="3463447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5" name="Текст 261"/>
          <p:cNvSpPr txBox="1"/>
          <p:nvPr/>
        </p:nvSpPr>
        <p:spPr>
          <a:xfrm>
            <a:off x="7269480" y="1691640"/>
            <a:ext cx="4373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PD за срок = 1 − (1 − PD)^(n/12)</a:t>
            </a:r>
            <a:endParaRPr lang="en-US" sz="1300" dirty="0"/>
          </a:p>
        </p:txBody>
      </p:sp>
      <p:sp>
        <p:nvSpPr>
          <p:cNvPr id="6" name="Текст 262"/>
          <p:cNvSpPr txBox="1"/>
          <p:nvPr/>
        </p:nvSpPr>
        <p:spPr>
          <a:xfrm>
            <a:off x="7269480" y="2103120"/>
            <a:ext cx="4373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Чем длиннее кредит, тем выше шанс дефолта хотя бы раз</a:t>
            </a:r>
            <a:endParaRPr lang="en-US" sz="1200" dirty="0"/>
          </a:p>
        </p:txBody>
      </p:sp>
      <p:sp>
        <p:nvSpPr>
          <p:cNvPr id="7" name="Текст 263"/>
          <p:cNvSpPr txBox="1"/>
          <p:nvPr/>
        </p:nvSpPr>
        <p:spPr>
          <a:xfrm>
            <a:off x="7269480" y="2606040"/>
            <a:ext cx="4373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EAD = средний долг по графику</a:t>
            </a:r>
            <a:endParaRPr lang="en-US" sz="1300" dirty="0"/>
          </a:p>
        </p:txBody>
      </p:sp>
      <p:sp>
        <p:nvSpPr>
          <p:cNvPr id="8" name="Текст 264"/>
          <p:cNvSpPr txBox="1"/>
          <p:nvPr/>
        </p:nvSpPr>
        <p:spPr>
          <a:xfrm>
            <a:off x="7269480" y="3017520"/>
            <a:ext cx="4373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К моменту дефолта часть долга уже погашена: брать всю сумму — завысить потери почти вдвое</a:t>
            </a:r>
            <a:endParaRPr lang="en-US" sz="1200" dirty="0"/>
          </a:p>
        </p:txBody>
      </p:sp>
      <p:sp>
        <p:nvSpPr>
          <p:cNvPr id="9" name="Текст 265"/>
          <p:cNvSpPr txBox="1"/>
          <p:nvPr/>
        </p:nvSpPr>
        <p:spPr>
          <a:xfrm>
            <a:off x="7269480" y="3611880"/>
            <a:ext cx="4373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Ставка = 14 % + PD × LGD + расходы</a:t>
            </a:r>
            <a:endParaRPr lang="en-US" sz="1300" dirty="0"/>
          </a:p>
        </p:txBody>
      </p:sp>
      <p:sp>
        <p:nvSpPr>
          <p:cNvPr id="10" name="Текст 266"/>
          <p:cNvSpPr txBox="1"/>
          <p:nvPr/>
        </p:nvSpPr>
        <p:spPr>
          <a:xfrm>
            <a:off x="7269480" y="4023360"/>
            <a:ext cx="4373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Надбавка за риск зависит от класса и продукта</a:t>
            </a:r>
            <a:endParaRPr lang="en-US" sz="1200" dirty="0"/>
          </a:p>
        </p:txBody>
      </p:sp>
      <p:sp>
        <p:nvSpPr>
          <p:cNvPr id="11" name="Текст 267"/>
          <p:cNvSpPr txBox="1"/>
          <p:nvPr/>
        </p:nvSpPr>
        <p:spPr>
          <a:xfrm>
            <a:off x="7269480" y="461772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Оборотные средства (LGD 60 %): ставка по классам</a:t>
            </a:r>
            <a:endParaRPr lang="en-US" sz="1100" dirty="0"/>
          </a:p>
        </p:txBody>
      </p:sp>
      <p:sp>
        <p:nvSpPr>
          <p:cNvPr id="12" name="Текст 268"/>
          <p:cNvSpPr txBox="1"/>
          <p:nvPr/>
        </p:nvSpPr>
        <p:spPr>
          <a:xfrm>
            <a:off x="7269480" y="49834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Класс A</a:t>
            </a:r>
            <a:endParaRPr lang="en-US" sz="1200" dirty="0"/>
          </a:p>
        </p:txBody>
      </p:sp>
      <p:sp>
        <p:nvSpPr>
          <p:cNvPr id="13" name="Шкала 269"/>
          <p:cNvSpPr/>
          <p:nvPr/>
        </p:nvSpPr>
        <p:spPr>
          <a:xfrm>
            <a:off x="8366760" y="4983480"/>
            <a:ext cx="2453335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Столбец 270"/>
          <p:cNvSpPr/>
          <p:nvPr/>
        </p:nvSpPr>
        <p:spPr>
          <a:xfrm>
            <a:off x="8366760" y="4983480"/>
            <a:ext cx="1686668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Текст 271"/>
          <p:cNvSpPr txBox="1"/>
          <p:nvPr/>
        </p:nvSpPr>
        <p:spPr>
          <a:xfrm>
            <a:off x="10163156" y="49834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16,5 %</a:t>
            </a:r>
            <a:endParaRPr lang="en-US" sz="1400" dirty="0"/>
          </a:p>
        </p:txBody>
      </p:sp>
      <p:sp>
        <p:nvSpPr>
          <p:cNvPr id="16" name="Текст 272"/>
          <p:cNvSpPr txBox="1"/>
          <p:nvPr/>
        </p:nvSpPr>
        <p:spPr>
          <a:xfrm>
            <a:off x="7269480" y="540410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Класс B</a:t>
            </a:r>
            <a:endParaRPr lang="en-US" sz="1200" dirty="0"/>
          </a:p>
        </p:txBody>
      </p:sp>
      <p:sp>
        <p:nvSpPr>
          <p:cNvPr id="17" name="Шкала 273"/>
          <p:cNvSpPr/>
          <p:nvPr/>
        </p:nvSpPr>
        <p:spPr>
          <a:xfrm>
            <a:off x="8366760" y="5404104"/>
            <a:ext cx="2453335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8" name="Столбец 274"/>
          <p:cNvSpPr/>
          <p:nvPr/>
        </p:nvSpPr>
        <p:spPr>
          <a:xfrm>
            <a:off x="8366760" y="5404104"/>
            <a:ext cx="1870668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9" name="Текст 275"/>
          <p:cNvSpPr txBox="1"/>
          <p:nvPr/>
        </p:nvSpPr>
        <p:spPr>
          <a:xfrm>
            <a:off x="10347156" y="54041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18,3 %</a:t>
            </a:r>
            <a:endParaRPr lang="en-US" sz="1400" dirty="0"/>
          </a:p>
        </p:txBody>
      </p:sp>
      <p:sp>
        <p:nvSpPr>
          <p:cNvPr id="20" name="Текст 276"/>
          <p:cNvSpPr txBox="1"/>
          <p:nvPr/>
        </p:nvSpPr>
        <p:spPr>
          <a:xfrm>
            <a:off x="7269480" y="58247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Класс C</a:t>
            </a:r>
            <a:endParaRPr lang="en-US" sz="1200" dirty="0"/>
          </a:p>
        </p:txBody>
      </p:sp>
      <p:sp>
        <p:nvSpPr>
          <p:cNvPr id="21" name="Шкала 277"/>
          <p:cNvSpPr/>
          <p:nvPr/>
        </p:nvSpPr>
        <p:spPr>
          <a:xfrm>
            <a:off x="8366760" y="5824728"/>
            <a:ext cx="2453335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2" name="Столбец 278"/>
          <p:cNvSpPr/>
          <p:nvPr/>
        </p:nvSpPr>
        <p:spPr>
          <a:xfrm>
            <a:off x="8366760" y="5824728"/>
            <a:ext cx="2238668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Текст 279"/>
          <p:cNvSpPr txBox="1"/>
          <p:nvPr/>
        </p:nvSpPr>
        <p:spPr>
          <a:xfrm>
            <a:off x="10715156" y="5824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21,9 %</a:t>
            </a:r>
            <a:endParaRPr lang="en-US" sz="1400" dirty="0"/>
          </a:p>
        </p:txBody>
      </p:sp>
      <p:sp>
        <p:nvSpPr>
          <p:cNvPr id="24" name="Текст 280"/>
          <p:cNvSpPr txBox="1"/>
          <p:nvPr/>
        </p:nvSpPr>
        <p:spPr>
          <a:xfrm>
            <a:off x="548640" y="5349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LGD: оборудование 40 % · оборотные 60 % · овердрафт 65 % · экспресс 75 %</a:t>
            </a:r>
            <a:endParaRPr lang="en-US" sz="1000" dirty="0"/>
          </a:p>
        </p:txBody>
      </p:sp>
      <p:sp>
        <p:nvSpPr>
          <p:cNvPr id="25" name="Текст 281"/>
          <p:cNvSpPr txBox="1"/>
          <p:nvPr/>
        </p:nvSpPr>
        <p:spPr>
          <a:xfrm>
            <a:off x="54864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Так блок выглядит в карточке заявки у аналитика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РАБОЧЕЕ МЕСТО АНАЛИТИКА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Аналитик получает заключение, а не таблицу</a:t>
            </a:r>
            <a:endParaRPr lang="en-US" sz="2600" dirty="0"/>
          </a:p>
        </p:txBody>
      </p:sp>
      <p:pic>
        <p:nvPicPr>
          <p:cNvPr id="4" name="Скриншот conclusion" descr="Заключение по заявке: сильные стороны и факторы рис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572000" cy="3867411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pic>
        <p:nvPicPr>
          <p:cNvPr id="5" name="Скриншот decision" descr="Панель решения с рекомендацией систем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91640"/>
            <a:ext cx="2926080" cy="4055952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2321">
                <a:alpha val="16000"/>
              </a:srgbClr>
            </a:outerShdw>
          </a:effectLst>
        </p:spPr>
      </p:pic>
      <p:sp>
        <p:nvSpPr>
          <p:cNvPr id="6" name="Круг 282"/>
          <p:cNvSpPr/>
          <p:nvPr/>
        </p:nvSpPr>
        <p:spPr>
          <a:xfrm>
            <a:off x="51663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Текст 283"/>
          <p:cNvSpPr txBox="1"/>
          <p:nvPr/>
        </p:nvSpPr>
        <p:spPr>
          <a:xfrm>
            <a:off x="5166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Круг 284"/>
          <p:cNvSpPr/>
          <p:nvPr/>
        </p:nvSpPr>
        <p:spPr>
          <a:xfrm>
            <a:off x="3657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Текст 285"/>
          <p:cNvSpPr txBox="1"/>
          <p:nvPr/>
        </p:nvSpPr>
        <p:spPr>
          <a:xfrm>
            <a:off x="3657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Круг 286"/>
          <p:cNvSpPr/>
          <p:nvPr/>
        </p:nvSpPr>
        <p:spPr>
          <a:xfrm>
            <a:off x="8503920" y="17373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Текст 287"/>
          <p:cNvSpPr txBox="1"/>
          <p:nvPr/>
        </p:nvSpPr>
        <p:spPr>
          <a:xfrm>
            <a:off x="850392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Текст 288"/>
          <p:cNvSpPr txBox="1"/>
          <p:nvPr/>
        </p:nvSpPr>
        <p:spPr>
          <a:xfrm>
            <a:off x="8915400" y="17007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Рекомендация с причинами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сумма, ставка и платёж; меньшая сумма пересчитана отдельно</a:t>
            </a:r>
            <a:endParaRPr lang="en-US" sz="1200" dirty="0"/>
          </a:p>
        </p:txBody>
      </p:sp>
      <p:sp>
        <p:nvSpPr>
          <p:cNvPr id="13" name="Круг 289"/>
          <p:cNvSpPr/>
          <p:nvPr/>
        </p:nvSpPr>
        <p:spPr>
          <a:xfrm>
            <a:off x="8503920" y="243230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Текст 290"/>
          <p:cNvSpPr txBox="1"/>
          <p:nvPr/>
        </p:nvSpPr>
        <p:spPr>
          <a:xfrm>
            <a:off x="850392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Текст 291"/>
          <p:cNvSpPr txBox="1"/>
          <p:nvPr/>
        </p:nvSpPr>
        <p:spPr>
          <a:xfrm>
            <a:off x="8915400" y="23957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Сильные стороны и факторы риска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каждый критерий с баллами и пояснением</a:t>
            </a:r>
            <a:endParaRPr lang="en-US" sz="1200" dirty="0"/>
          </a:p>
        </p:txBody>
      </p:sp>
      <p:sp>
        <p:nvSpPr>
          <p:cNvPr id="16" name="Круг 292"/>
          <p:cNvSpPr/>
          <p:nvPr/>
        </p:nvSpPr>
        <p:spPr>
          <a:xfrm>
            <a:off x="8503920" y="31272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Текст 293"/>
          <p:cNvSpPr txBox="1"/>
          <p:nvPr/>
        </p:nvSpPr>
        <p:spPr>
          <a:xfrm>
            <a:off x="850392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Текст 294"/>
          <p:cNvSpPr txBox="1"/>
          <p:nvPr/>
        </p:nvSpPr>
        <p:spPr>
          <a:xfrm>
            <a:off x="8915400" y="309067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«Нет данных» — отдельным блоком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не путается с риском и всегда ведёт к человеку</a:t>
            </a:r>
            <a:endParaRPr lang="en-US" sz="1200" dirty="0"/>
          </a:p>
        </p:txBody>
      </p:sp>
      <p:sp>
        <p:nvSpPr>
          <p:cNvPr id="19" name="Круг 295"/>
          <p:cNvSpPr/>
          <p:nvPr/>
        </p:nvSpPr>
        <p:spPr>
          <a:xfrm>
            <a:off x="8503920" y="38221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Текст 296"/>
          <p:cNvSpPr txBox="1"/>
          <p:nvPr/>
        </p:nvSpPr>
        <p:spPr>
          <a:xfrm>
            <a:off x="850392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Текст 297"/>
          <p:cNvSpPr txBox="1"/>
          <p:nvPr/>
        </p:nvSpPr>
        <p:spPr>
          <a:xfrm>
            <a:off x="8915400" y="378561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Категория качества по 590-П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и диапазон резерва для класса</a:t>
            </a:r>
            <a:endParaRPr lang="en-US" sz="1200" dirty="0"/>
          </a:p>
        </p:txBody>
      </p:sp>
      <p:sp>
        <p:nvSpPr>
          <p:cNvPr id="22" name="Круг 298"/>
          <p:cNvSpPr/>
          <p:nvPr/>
        </p:nvSpPr>
        <p:spPr>
          <a:xfrm>
            <a:off x="8503920" y="451713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Текст 299"/>
          <p:cNvSpPr txBox="1"/>
          <p:nvPr/>
        </p:nvSpPr>
        <p:spPr>
          <a:xfrm>
            <a:off x="8503920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Текст 300"/>
          <p:cNvSpPr txBox="1"/>
          <p:nvPr/>
        </p:nvSpPr>
        <p:spPr>
          <a:xfrm>
            <a:off x="8915400" y="4480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Четыре действия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 защитой от ошибочных условий</a:t>
            </a:r>
            <a:endParaRPr lang="en-US" sz="1200" dirty="0"/>
          </a:p>
        </p:txBody>
      </p:sp>
      <p:sp>
        <p:nvSpPr>
          <p:cNvPr id="25" name="Круг 301"/>
          <p:cNvSpPr/>
          <p:nvPr/>
        </p:nvSpPr>
        <p:spPr>
          <a:xfrm>
            <a:off x="8503920" y="521208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Текст 302"/>
          <p:cNvSpPr txBox="1"/>
          <p:nvPr/>
        </p:nvSpPr>
        <p:spPr>
          <a:xfrm>
            <a:off x="8503920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Текст 303"/>
          <p:cNvSpPr txBox="1"/>
          <p:nvPr/>
        </p:nvSpPr>
        <p:spPr>
          <a:xfrm>
            <a:off x="8915400" y="51755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Журнал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каждый шаг заявки: кто, когда, почему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ПРОВЕРКА МОДЕЛИ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Проверили модель на 20 000 заявок</a:t>
            </a:r>
            <a:endParaRPr lang="en-US" sz="2600" dirty="0"/>
          </a:p>
        </p:txBody>
      </p:sp>
      <p:sp>
        <p:nvSpPr>
          <p:cNvPr id="4" name="Текст 304"/>
          <p:cNvSpPr txBox="1"/>
          <p:nvPr/>
        </p:nvSpPr>
        <p:spPr>
          <a:xfrm>
            <a:off x="548640" y="1783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0,23</a:t>
            </a:r>
            <a:endParaRPr lang="en-US" sz="6600" dirty="0"/>
          </a:p>
        </p:txBody>
      </p:sp>
      <p:sp>
        <p:nvSpPr>
          <p:cNvPr id="5" name="Текст 305"/>
          <p:cNvSpPr txBox="1"/>
          <p:nvPr/>
        </p:nvSpPr>
        <p:spPr>
          <a:xfrm>
            <a:off x="548640" y="28803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Gini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— насколько модель отделяет будущих неплательщиков от надёжных: 0 — наугад, 1 — без ошибок. Потолок на этих данных 0,57</a:t>
            </a:r>
            <a:endParaRPr lang="en-US" sz="1200" dirty="0"/>
          </a:p>
        </p:txBody>
      </p:sp>
      <p:sp>
        <p:nvSpPr>
          <p:cNvPr id="6" name="Круг 306"/>
          <p:cNvSpPr/>
          <p:nvPr/>
        </p:nvSpPr>
        <p:spPr>
          <a:xfrm>
            <a:off x="548640" y="40416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Текст 307"/>
          <p:cNvSpPr txBox="1"/>
          <p:nvPr/>
        </p:nvSpPr>
        <p:spPr>
          <a:xfrm>
            <a:off x="868680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Классы упорядочены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доля дефолтов растёт от A к D</a:t>
            </a:r>
            <a:endParaRPr lang="en-US" sz="1200" dirty="0"/>
          </a:p>
        </p:txBody>
      </p:sp>
      <p:sp>
        <p:nvSpPr>
          <p:cNvPr id="8" name="Круг 308"/>
          <p:cNvSpPr/>
          <p:nvPr/>
        </p:nvSpPr>
        <p:spPr>
          <a:xfrm>
            <a:off x="548640" y="47274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Текст 309"/>
          <p:cNvSpPr txBox="1"/>
          <p:nvPr/>
        </p:nvSpPr>
        <p:spPr>
          <a:xfrm>
            <a:off x="868680" y="4663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Честно о пределах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PD экспертные: A и B недооценены, D переоценён</a:t>
            </a:r>
            <a:endParaRPr lang="en-US" sz="1200" dirty="0"/>
          </a:p>
        </p:txBody>
      </p:sp>
      <p:sp>
        <p:nvSpPr>
          <p:cNvPr id="10" name="Круг 310"/>
          <p:cNvSpPr/>
          <p:nvPr/>
        </p:nvSpPr>
        <p:spPr>
          <a:xfrm>
            <a:off x="548640" y="54132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Текст 311"/>
          <p:cNvSpPr txBox="1"/>
          <p:nvPr/>
        </p:nvSpPr>
        <p:spPr>
          <a:xfrm>
            <a:off x="868680" y="5349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Закреплено в CI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поломка ранжирования не пройдёт тесты</a:t>
            </a:r>
            <a:endParaRPr lang="en-US" sz="1200" dirty="0"/>
          </a:p>
        </p:txBody>
      </p:sp>
      <p:sp>
        <p:nvSpPr>
          <p:cNvPr id="12" name="Карточка 312"/>
          <p:cNvSpPr/>
          <p:nvPr/>
        </p:nvSpPr>
        <p:spPr>
          <a:xfrm>
            <a:off x="4160520" y="1737360"/>
            <a:ext cx="7482535" cy="44805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3" name="Текст 313"/>
          <p:cNvSpPr txBox="1"/>
          <p:nvPr/>
        </p:nvSpPr>
        <p:spPr>
          <a:xfrm>
            <a:off x="45262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Доля дефолтов по классам карты</a:t>
            </a:r>
            <a:endParaRPr lang="en-US" sz="1300" dirty="0"/>
          </a:p>
        </p:txBody>
      </p:sp>
      <p:sp>
        <p:nvSpPr>
          <p:cNvPr id="14" name="Круг 314"/>
          <p:cNvSpPr/>
          <p:nvPr/>
        </p:nvSpPr>
        <p:spPr>
          <a:xfrm>
            <a:off x="4526280" y="243230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Текст 315"/>
          <p:cNvSpPr txBox="1"/>
          <p:nvPr/>
        </p:nvSpPr>
        <p:spPr>
          <a:xfrm>
            <a:off x="47548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наблюдаемая на 20 000 синтетических заявок</a:t>
            </a:r>
            <a:endParaRPr lang="en-US" sz="1100" dirty="0"/>
          </a:p>
        </p:txBody>
      </p:sp>
      <p:sp>
        <p:nvSpPr>
          <p:cNvPr id="16" name="Круг 316"/>
          <p:cNvSpPr/>
          <p:nvPr/>
        </p:nvSpPr>
        <p:spPr>
          <a:xfrm>
            <a:off x="8321040" y="2432304"/>
            <a:ext cx="146304" cy="14630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Текст 317"/>
          <p:cNvSpPr txBox="1"/>
          <p:nvPr/>
        </p:nvSpPr>
        <p:spPr>
          <a:xfrm>
            <a:off x="854964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PD модели за средний срок</a:t>
            </a:r>
            <a:endParaRPr lang="en-US" sz="1100" dirty="0"/>
          </a:p>
        </p:txBody>
      </p:sp>
      <p:sp>
        <p:nvSpPr>
          <p:cNvPr id="18" name="Столбец 318"/>
          <p:cNvSpPr/>
          <p:nvPr/>
        </p:nvSpPr>
        <p:spPr>
          <a:xfrm>
            <a:off x="4937760" y="5298491"/>
            <a:ext cx="566928" cy="279349"/>
          </a:xfrm>
          <a:prstGeom prst="roundRect">
            <a:avLst>
              <a:gd name="adj" fmla="val 39280"/>
            </a:avLst>
          </a:prstGeom>
          <a:solidFill>
            <a:schemeClr val="accent1"/>
          </a:solidFill>
          <a:ln/>
        </p:spPr>
      </p:sp>
      <p:sp>
        <p:nvSpPr>
          <p:cNvPr id="19" name="Текст 319"/>
          <p:cNvSpPr txBox="1"/>
          <p:nvPr/>
        </p:nvSpPr>
        <p:spPr>
          <a:xfrm>
            <a:off x="4754880" y="5005883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4,7 %</a:t>
            </a:r>
            <a:endParaRPr lang="en-US" sz="1100" dirty="0"/>
          </a:p>
        </p:txBody>
      </p:sp>
      <p:sp>
        <p:nvSpPr>
          <p:cNvPr id="20" name="Столбец 320"/>
          <p:cNvSpPr/>
          <p:nvPr/>
        </p:nvSpPr>
        <p:spPr>
          <a:xfrm>
            <a:off x="5614416" y="5482742"/>
            <a:ext cx="566928" cy="95098"/>
          </a:xfrm>
          <a:prstGeom prst="roundRect">
            <a:avLst>
              <a:gd name="adj" fmla="val 115384"/>
            </a:avLst>
          </a:prstGeom>
          <a:solidFill>
            <a:schemeClr val="tx2"/>
          </a:solidFill>
          <a:ln/>
        </p:spPr>
      </p:sp>
      <p:sp>
        <p:nvSpPr>
          <p:cNvPr id="21" name="Текст 321"/>
          <p:cNvSpPr txBox="1"/>
          <p:nvPr/>
        </p:nvSpPr>
        <p:spPr>
          <a:xfrm>
            <a:off x="5431536" y="519013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1,6 %</a:t>
            </a:r>
            <a:endParaRPr lang="en-US" sz="1100" dirty="0"/>
          </a:p>
        </p:txBody>
      </p:sp>
      <p:sp>
        <p:nvSpPr>
          <p:cNvPr id="22" name="Текст 322"/>
          <p:cNvSpPr txBox="1"/>
          <p:nvPr/>
        </p:nvSpPr>
        <p:spPr>
          <a:xfrm>
            <a:off x="4937760" y="5650992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Столбец 323"/>
          <p:cNvSpPr/>
          <p:nvPr/>
        </p:nvSpPr>
        <p:spPr>
          <a:xfrm>
            <a:off x="6671234" y="4828946"/>
            <a:ext cx="566928" cy="748894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24" name="Текст 324"/>
          <p:cNvSpPr txBox="1"/>
          <p:nvPr/>
        </p:nvSpPr>
        <p:spPr>
          <a:xfrm>
            <a:off x="6488354" y="453633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12,6 %</a:t>
            </a:r>
            <a:endParaRPr lang="en-US" sz="1100" dirty="0"/>
          </a:p>
        </p:txBody>
      </p:sp>
      <p:sp>
        <p:nvSpPr>
          <p:cNvPr id="25" name="Столбец 325"/>
          <p:cNvSpPr/>
          <p:nvPr/>
        </p:nvSpPr>
        <p:spPr>
          <a:xfrm>
            <a:off x="7347890" y="5203393"/>
            <a:ext cx="566928" cy="374447"/>
          </a:xfrm>
          <a:prstGeom prst="roundRect">
            <a:avLst>
              <a:gd name="adj" fmla="val 29304"/>
            </a:avLst>
          </a:prstGeom>
          <a:solidFill>
            <a:schemeClr val="tx2"/>
          </a:solidFill>
          <a:ln/>
        </p:spPr>
      </p:sp>
      <p:sp>
        <p:nvSpPr>
          <p:cNvPr id="26" name="Текст 326"/>
          <p:cNvSpPr txBox="1"/>
          <p:nvPr/>
        </p:nvSpPr>
        <p:spPr>
          <a:xfrm>
            <a:off x="7165010" y="4910785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6,3 %</a:t>
            </a:r>
            <a:endParaRPr lang="en-US" sz="1100" dirty="0"/>
          </a:p>
        </p:txBody>
      </p:sp>
      <p:sp>
        <p:nvSpPr>
          <p:cNvPr id="27" name="Текст 327"/>
          <p:cNvSpPr txBox="1"/>
          <p:nvPr/>
        </p:nvSpPr>
        <p:spPr>
          <a:xfrm>
            <a:off x="6671234" y="5650992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1800" dirty="0"/>
          </a:p>
        </p:txBody>
      </p:sp>
      <p:sp>
        <p:nvSpPr>
          <p:cNvPr id="28" name="Столбец 328"/>
          <p:cNvSpPr/>
          <p:nvPr/>
        </p:nvSpPr>
        <p:spPr>
          <a:xfrm>
            <a:off x="8404708" y="4513936"/>
            <a:ext cx="566928" cy="1063904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29" name="Текст 329"/>
          <p:cNvSpPr txBox="1"/>
          <p:nvPr/>
        </p:nvSpPr>
        <p:spPr>
          <a:xfrm>
            <a:off x="8221828" y="42213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17,9 %</a:t>
            </a:r>
            <a:endParaRPr lang="en-US" sz="1100" dirty="0"/>
          </a:p>
        </p:txBody>
      </p:sp>
      <p:sp>
        <p:nvSpPr>
          <p:cNvPr id="30" name="Столбец 330"/>
          <p:cNvSpPr/>
          <p:nvPr/>
        </p:nvSpPr>
        <p:spPr>
          <a:xfrm>
            <a:off x="9081364" y="4644695"/>
            <a:ext cx="566928" cy="933145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31" name="Текст 331"/>
          <p:cNvSpPr txBox="1"/>
          <p:nvPr/>
        </p:nvSpPr>
        <p:spPr>
          <a:xfrm>
            <a:off x="8898484" y="4352087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15,7 %</a:t>
            </a:r>
            <a:endParaRPr lang="en-US" sz="1100" dirty="0"/>
          </a:p>
        </p:txBody>
      </p:sp>
      <p:sp>
        <p:nvSpPr>
          <p:cNvPr id="32" name="Текст 332"/>
          <p:cNvSpPr txBox="1"/>
          <p:nvPr/>
        </p:nvSpPr>
        <p:spPr>
          <a:xfrm>
            <a:off x="8404708" y="5650992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Столбец 333"/>
          <p:cNvSpPr/>
          <p:nvPr/>
        </p:nvSpPr>
        <p:spPr>
          <a:xfrm>
            <a:off x="10138181" y="4234586"/>
            <a:ext cx="566928" cy="1343254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34" name="Текст 334"/>
          <p:cNvSpPr txBox="1"/>
          <p:nvPr/>
        </p:nvSpPr>
        <p:spPr>
          <a:xfrm>
            <a:off x="9955301" y="394197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22,6 %</a:t>
            </a:r>
            <a:endParaRPr lang="en-US" sz="1100" dirty="0"/>
          </a:p>
        </p:txBody>
      </p:sp>
      <p:sp>
        <p:nvSpPr>
          <p:cNvPr id="35" name="Столбец 335"/>
          <p:cNvSpPr/>
          <p:nvPr/>
        </p:nvSpPr>
        <p:spPr>
          <a:xfrm>
            <a:off x="10814837" y="3414370"/>
            <a:ext cx="566928" cy="2163470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36" name="Текст 336"/>
          <p:cNvSpPr txBox="1"/>
          <p:nvPr/>
        </p:nvSpPr>
        <p:spPr>
          <a:xfrm>
            <a:off x="10631957" y="312176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36,4 %</a:t>
            </a:r>
            <a:endParaRPr lang="en-US" sz="1100" dirty="0"/>
          </a:p>
        </p:txBody>
      </p:sp>
      <p:sp>
        <p:nvSpPr>
          <p:cNvPr id="37" name="Текст 337"/>
          <p:cNvSpPr txBox="1"/>
          <p:nvPr/>
        </p:nvSpPr>
        <p:spPr>
          <a:xfrm>
            <a:off x="10138181" y="5650992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1800" dirty="0"/>
          </a:p>
        </p:txBody>
      </p:sp>
      <p:sp>
        <p:nvSpPr>
          <p:cNvPr id="38" name="Ось"/>
          <p:cNvSpPr/>
          <p:nvPr/>
        </p:nvSpPr>
        <p:spPr>
          <a:xfrm>
            <a:off x="4572000" y="5577840"/>
            <a:ext cx="6796735" cy="0"/>
          </a:xfrm>
          <a:prstGeom prst="line">
            <a:avLst/>
          </a:prstGeom>
          <a:noFill/>
          <a:ln w="12700">
            <a:solidFill>
              <a:srgbClr val="EBE2D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ИИ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ИИ там, где он полезен, и нигде больше</a:t>
            </a:r>
            <a:endParaRPr lang="en-US" sz="2600" dirty="0"/>
          </a:p>
        </p:txBody>
      </p:sp>
      <p:sp>
        <p:nvSpPr>
          <p:cNvPr id="4" name="Карточка 338"/>
          <p:cNvSpPr/>
          <p:nvPr/>
        </p:nvSpPr>
        <p:spPr>
          <a:xfrm>
            <a:off x="548640" y="1737360"/>
            <a:ext cx="5852160" cy="44805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5" name="Текст 339"/>
          <p:cNvSpPr txBox="1"/>
          <p:nvPr/>
        </p:nvSpPr>
        <p:spPr>
          <a:xfrm>
            <a:off x="822960" y="1965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Ответов верно и без выдумок — из 12 вопросов клиентов</a:t>
            </a:r>
            <a:endParaRPr lang="en-US" sz="1300" dirty="0"/>
          </a:p>
        </p:txBody>
      </p:sp>
      <p:sp>
        <p:nvSpPr>
          <p:cNvPr id="6" name="Текст 340"/>
          <p:cNvSpPr txBox="1"/>
          <p:nvPr/>
        </p:nvSpPr>
        <p:spPr>
          <a:xfrm>
            <a:off x="82296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Справочник на правилах</a:t>
            </a:r>
            <a:endParaRPr lang="en-US" sz="1200" dirty="0"/>
          </a:p>
        </p:txBody>
      </p:sp>
      <p:sp>
        <p:nvSpPr>
          <p:cNvPr id="7" name="Шкала 341"/>
          <p:cNvSpPr/>
          <p:nvPr/>
        </p:nvSpPr>
        <p:spPr>
          <a:xfrm>
            <a:off x="2971800" y="251460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8" name="Столбец 342"/>
          <p:cNvSpPr/>
          <p:nvPr/>
        </p:nvSpPr>
        <p:spPr>
          <a:xfrm>
            <a:off x="2971800" y="2514600"/>
            <a:ext cx="178308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9" name="Текст 343"/>
          <p:cNvSpPr txBox="1"/>
          <p:nvPr/>
        </p:nvSpPr>
        <p:spPr>
          <a:xfrm>
            <a:off x="4864608" y="25146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</a:t>
            </a:r>
            <a:endParaRPr lang="en-US" sz="1400" dirty="0"/>
          </a:p>
        </p:txBody>
      </p:sp>
      <p:sp>
        <p:nvSpPr>
          <p:cNvPr id="10" name="Текст 344"/>
          <p:cNvSpPr txBox="1"/>
          <p:nvPr/>
        </p:nvSpPr>
        <p:spPr>
          <a:xfrm>
            <a:off x="822960" y="3172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T-lite-it-2.1</a:t>
            </a:r>
            <a:endParaRPr lang="en-US" sz="1200" dirty="0"/>
          </a:p>
        </p:txBody>
      </p:sp>
      <p:sp>
        <p:nvSpPr>
          <p:cNvPr id="11" name="Шкала 345"/>
          <p:cNvSpPr/>
          <p:nvPr/>
        </p:nvSpPr>
        <p:spPr>
          <a:xfrm>
            <a:off x="2971800" y="3172968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Столбец 346"/>
          <p:cNvSpPr/>
          <p:nvPr/>
        </p:nvSpPr>
        <p:spPr>
          <a:xfrm>
            <a:off x="2971800" y="3172968"/>
            <a:ext cx="7924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3" name="Текст 347"/>
          <p:cNvSpPr txBox="1"/>
          <p:nvPr/>
        </p:nvSpPr>
        <p:spPr>
          <a:xfrm>
            <a:off x="3874008" y="31729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Текст 348"/>
          <p:cNvSpPr txBox="1"/>
          <p:nvPr/>
        </p:nvSpPr>
        <p:spPr>
          <a:xfrm>
            <a:off x="822960" y="38313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Qwen3.5 4B</a:t>
            </a:r>
            <a:endParaRPr lang="en-US" sz="1200" dirty="0"/>
          </a:p>
        </p:txBody>
      </p:sp>
      <p:sp>
        <p:nvSpPr>
          <p:cNvPr id="15" name="Шкала 349"/>
          <p:cNvSpPr/>
          <p:nvPr/>
        </p:nvSpPr>
        <p:spPr>
          <a:xfrm>
            <a:off x="2971800" y="3831336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6" name="Столбец 350"/>
          <p:cNvSpPr/>
          <p:nvPr/>
        </p:nvSpPr>
        <p:spPr>
          <a:xfrm>
            <a:off x="2971800" y="3831336"/>
            <a:ext cx="7924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Текст 351"/>
          <p:cNvSpPr txBox="1"/>
          <p:nvPr/>
        </p:nvSpPr>
        <p:spPr>
          <a:xfrm>
            <a:off x="3874008" y="383133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Текст 352"/>
          <p:cNvSpPr txBox="1"/>
          <p:nvPr/>
        </p:nvSpPr>
        <p:spPr>
          <a:xfrm>
            <a:off x="822960" y="4489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Справочник + модель с проверкой кодом</a:t>
            </a:r>
            <a:endParaRPr lang="en-US" sz="1200" dirty="0"/>
          </a:p>
        </p:txBody>
      </p:sp>
      <p:sp>
        <p:nvSpPr>
          <p:cNvPr id="19" name="Шкала 353"/>
          <p:cNvSpPr/>
          <p:nvPr/>
        </p:nvSpPr>
        <p:spPr>
          <a:xfrm>
            <a:off x="2971800" y="4489704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0" name="Столбец 354"/>
          <p:cNvSpPr/>
          <p:nvPr/>
        </p:nvSpPr>
        <p:spPr>
          <a:xfrm>
            <a:off x="2971800" y="4489704"/>
            <a:ext cx="2179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Текст 355"/>
          <p:cNvSpPr txBox="1"/>
          <p:nvPr/>
        </p:nvSpPr>
        <p:spPr>
          <a:xfrm>
            <a:off x="5260848" y="448970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Текст 356"/>
          <p:cNvSpPr txBox="1"/>
          <p:nvPr/>
        </p:nvSpPr>
        <p:spPr>
          <a:xfrm>
            <a:off x="822960" y="5120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Модели придумывали сроки и условия в 3–4 ответах из 12 и назвали «телефон горячей линии», которого нет. Справочник — ни разу.</a:t>
            </a:r>
            <a:endParaRPr lang="en-US" sz="1200" dirty="0"/>
          </a:p>
        </p:txBody>
      </p:sp>
      <p:sp>
        <p:nvSpPr>
          <p:cNvPr id="23" name="Текст 357"/>
          <p:cNvSpPr txBox="1"/>
          <p:nvPr/>
        </p:nvSpPr>
        <p:spPr>
          <a:xfrm>
            <a:off x="672084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«В кредитном разговоре названный срок звучит как обещание банка»</a:t>
            </a:r>
            <a:endParaRPr lang="en-US" sz="2100" dirty="0"/>
          </a:p>
        </p:txBody>
      </p:sp>
      <p:sp>
        <p:nvSpPr>
          <p:cNvPr id="24" name="Круг 358"/>
          <p:cNvSpPr/>
          <p:nvPr/>
        </p:nvSpPr>
        <p:spPr>
          <a:xfrm>
            <a:off x="6720840" y="280720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Текст 359"/>
          <p:cNvSpPr txBox="1"/>
          <p:nvPr/>
        </p:nvSpPr>
        <p:spPr>
          <a:xfrm>
            <a:off x="7040880" y="27432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Точные ответы — справочник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документы, ставки, сроки, статус — из каталога и заявок клиента</a:t>
            </a:r>
            <a:endParaRPr lang="en-US" sz="1300" dirty="0"/>
          </a:p>
        </p:txBody>
      </p:sp>
      <p:sp>
        <p:nvSpPr>
          <p:cNvPr id="26" name="Круг 360"/>
          <p:cNvSpPr/>
          <p:nvPr/>
        </p:nvSpPr>
        <p:spPr>
          <a:xfrm>
            <a:off x="6720840" y="3611880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Текст 361"/>
          <p:cNvSpPr txBox="1"/>
          <p:nvPr/>
        </p:nvSpPr>
        <p:spPr>
          <a:xfrm>
            <a:off x="7040880" y="35478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Модель — подбор и пояснения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её ответ проверяет код: цифры, обещания, тема; сомнение → справочник</a:t>
            </a:r>
            <a:endParaRPr lang="en-US" sz="1300" dirty="0"/>
          </a:p>
        </p:txBody>
      </p:sp>
      <p:sp>
        <p:nvSpPr>
          <p:cNvPr id="28" name="Круг 362"/>
          <p:cNvSpPr/>
          <p:nvPr/>
        </p:nvSpPr>
        <p:spPr>
          <a:xfrm>
            <a:off x="6720840" y="441655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Текст 363"/>
          <p:cNvSpPr txBox="1"/>
          <p:nvPr/>
        </p:nvSpPr>
        <p:spPr>
          <a:xfrm>
            <a:off x="7040880" y="4352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Решений ИИ не принимает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ни по заявкам, ни по оценке — только правила и человек</a:t>
            </a:r>
            <a:endParaRPr lang="en-US" sz="1300" dirty="0"/>
          </a:p>
        </p:txBody>
      </p:sp>
      <p:sp>
        <p:nvSpPr>
          <p:cNvPr id="30" name="Круг 364"/>
          <p:cNvSpPr/>
          <p:nvPr/>
        </p:nvSpPr>
        <p:spPr>
          <a:xfrm>
            <a:off x="6720840" y="522122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Текст 365"/>
          <p:cNvSpPr txBox="1"/>
          <p:nvPr/>
        </p:nvSpPr>
        <p:spPr>
          <a:xfrm>
            <a:off x="7040880" y="515721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Открытые веса, локально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T-lite-it-2.1 в Ollama; в демо выключен, включается AI_ENABLED=true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АРХИТЕКТУРА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Построено как банковский сервис</a:t>
            </a:r>
            <a:endParaRPr lang="en-US" sz="2600" dirty="0"/>
          </a:p>
        </p:txBody>
      </p:sp>
      <p:sp>
        <p:nvSpPr>
          <p:cNvPr id="4" name="Узел 366"/>
          <p:cNvSpPr/>
          <p:nvPr/>
        </p:nvSpPr>
        <p:spPr>
          <a:xfrm>
            <a:off x="548640" y="1828800"/>
            <a:ext cx="201168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5" name="Текст 367"/>
          <p:cNvSpPr txBox="1"/>
          <p:nvPr/>
        </p:nvSpPr>
        <p:spPr>
          <a:xfrm>
            <a:off x="6400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Браузер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кабинеты клиента и банка</a:t>
            </a:r>
            <a:endParaRPr lang="en-US" sz="1300" dirty="0"/>
          </a:p>
        </p:txBody>
      </p:sp>
      <p:sp>
        <p:nvSpPr>
          <p:cNvPr id="6" name="Связь 368"/>
          <p:cNvSpPr/>
          <p:nvPr/>
        </p:nvSpPr>
        <p:spPr>
          <a:xfrm>
            <a:off x="1554480" y="2560320"/>
            <a:ext cx="0" cy="411480"/>
          </a:xfrm>
          <a:prstGeom prst="line">
            <a:avLst/>
          </a:prstGeom>
          <a:noFill/>
          <a:ln w="15875">
            <a:solidFill>
              <a:srgbClr val="756E69"/>
            </a:solidFill>
            <a:prstDash val="solid"/>
            <a:tailEnd type="triangle"/>
          </a:ln>
        </p:spPr>
      </p:sp>
      <p:sp>
        <p:nvSpPr>
          <p:cNvPr id="7" name="Узел 369"/>
          <p:cNvSpPr/>
          <p:nvPr/>
        </p:nvSpPr>
        <p:spPr>
          <a:xfrm>
            <a:off x="548640" y="2971800"/>
            <a:ext cx="201168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8" name="Текст 370"/>
          <p:cNvSpPr txBox="1"/>
          <p:nvPr/>
        </p:nvSpPr>
        <p:spPr>
          <a:xfrm>
            <a:off x="64008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nginx + React</a:t>
            </a:r>
            <a:endParaRPr lang="en-US" sz="1300" dirty="0"/>
          </a:p>
        </p:txBody>
      </p:sp>
      <p:sp>
        <p:nvSpPr>
          <p:cNvPr id="9" name="Связь 371"/>
          <p:cNvSpPr/>
          <p:nvPr/>
        </p:nvSpPr>
        <p:spPr>
          <a:xfrm>
            <a:off x="1554480" y="3703320"/>
            <a:ext cx="0" cy="411480"/>
          </a:xfrm>
          <a:prstGeom prst="line">
            <a:avLst/>
          </a:prstGeom>
          <a:noFill/>
          <a:ln w="15875">
            <a:solidFill>
              <a:srgbClr val="756E69"/>
            </a:solidFill>
            <a:prstDash val="solid"/>
            <a:tailEnd type="triangle"/>
          </a:ln>
        </p:spPr>
      </p:sp>
      <p:sp>
        <p:nvSpPr>
          <p:cNvPr id="10" name="Узел 372"/>
          <p:cNvSpPr/>
          <p:nvPr/>
        </p:nvSpPr>
        <p:spPr>
          <a:xfrm>
            <a:off x="548640" y="4114800"/>
            <a:ext cx="20116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1" name="Текст 373"/>
          <p:cNvSpPr txBox="1"/>
          <p:nvPr/>
        </p:nvSpPr>
        <p:spPr>
          <a:xfrm>
            <a:off x="64008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Go · конвейер · оценка</a:t>
            </a:r>
            <a:endParaRPr lang="en-US" sz="1300" dirty="0"/>
          </a:p>
        </p:txBody>
      </p:sp>
      <p:sp>
        <p:nvSpPr>
          <p:cNvPr id="12" name="Связь 374"/>
          <p:cNvSpPr/>
          <p:nvPr/>
        </p:nvSpPr>
        <p:spPr>
          <a:xfrm>
            <a:off x="1554480" y="4892040"/>
            <a:ext cx="0" cy="411480"/>
          </a:xfrm>
          <a:prstGeom prst="line">
            <a:avLst/>
          </a:prstGeom>
          <a:noFill/>
          <a:ln w="15875">
            <a:solidFill>
              <a:srgbClr val="756E69"/>
            </a:solidFill>
            <a:prstDash val="solid"/>
            <a:tailEnd type="triangle"/>
          </a:ln>
        </p:spPr>
      </p:sp>
      <p:sp>
        <p:nvSpPr>
          <p:cNvPr id="13" name="Узел 375"/>
          <p:cNvSpPr/>
          <p:nvPr/>
        </p:nvSpPr>
        <p:spPr>
          <a:xfrm>
            <a:off x="548640" y="5303520"/>
            <a:ext cx="201168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4" name="Текст 376"/>
          <p:cNvSpPr txBox="1"/>
          <p:nvPr/>
        </p:nvSpPr>
        <p:spPr>
          <a:xfrm>
            <a:off x="640080" y="5303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данные · события · блокировки</a:t>
            </a:r>
            <a:endParaRPr lang="en-US" sz="1300" dirty="0"/>
          </a:p>
        </p:txBody>
      </p:sp>
      <p:sp>
        <p:nvSpPr>
          <p:cNvPr id="15" name="Связь 377"/>
          <p:cNvSpPr/>
          <p:nvPr/>
        </p:nvSpPr>
        <p:spPr>
          <a:xfrm>
            <a:off x="2560320" y="4343400"/>
            <a:ext cx="502920" cy="0"/>
          </a:xfrm>
          <a:prstGeom prst="line">
            <a:avLst/>
          </a:prstGeom>
          <a:noFill/>
          <a:ln w="15875">
            <a:solidFill>
              <a:srgbClr val="756E69"/>
            </a:solidFill>
            <a:prstDash val="solid"/>
            <a:tailEnd type="triangle"/>
          </a:ln>
        </p:spPr>
      </p:sp>
      <p:sp>
        <p:nvSpPr>
          <p:cNvPr id="16" name="Узел 378"/>
          <p:cNvSpPr/>
          <p:nvPr/>
        </p:nvSpPr>
        <p:spPr>
          <a:xfrm>
            <a:off x="3063240" y="3931920"/>
            <a:ext cx="160020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7" name="Текст 379"/>
          <p:cNvSpPr txBox="1"/>
          <p:nvPr/>
        </p:nvSpPr>
        <p:spPr>
          <a:xfrm>
            <a:off x="3154680" y="3931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mock-bki</a:t>
            </a:r>
            <a:endParaRPr lang="en-US" sz="1300" dirty="0"/>
          </a:p>
        </p:txBody>
      </p:sp>
      <p:sp>
        <p:nvSpPr>
          <p:cNvPr id="18" name="Узел 380"/>
          <p:cNvSpPr/>
          <p:nvPr/>
        </p:nvSpPr>
        <p:spPr>
          <a:xfrm>
            <a:off x="3063240" y="4572000"/>
            <a:ext cx="160020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9" name="Текст 381"/>
          <p:cNvSpPr txBox="1"/>
          <p:nvPr/>
        </p:nvSpPr>
        <p:spPr>
          <a:xfrm>
            <a:off x="3154680" y="45720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mock-egrul</a:t>
            </a:r>
            <a:endParaRPr lang="en-US" sz="1300" dirty="0"/>
          </a:p>
        </p:txBody>
      </p:sp>
      <p:sp>
        <p:nvSpPr>
          <p:cNvPr id="20" name="Узел 382"/>
          <p:cNvSpPr/>
          <p:nvPr/>
        </p:nvSpPr>
        <p:spPr>
          <a:xfrm>
            <a:off x="3063240" y="5212080"/>
            <a:ext cx="16002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21" name="Текст 383"/>
          <p:cNvSpPr txBox="1"/>
          <p:nvPr/>
        </p:nvSpPr>
        <p:spPr>
          <a:xfrm>
            <a:off x="3154680" y="5212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Ollama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по желанию</a:t>
            </a:r>
            <a:endParaRPr lang="en-US" sz="1300" dirty="0"/>
          </a:p>
        </p:txBody>
      </p:sp>
      <p:sp>
        <p:nvSpPr>
          <p:cNvPr id="22" name="Связь 384"/>
          <p:cNvSpPr/>
          <p:nvPr/>
        </p:nvSpPr>
        <p:spPr>
          <a:xfrm>
            <a:off x="2560320" y="4617720"/>
            <a:ext cx="502920" cy="228600"/>
          </a:xfrm>
          <a:prstGeom prst="line">
            <a:avLst/>
          </a:prstGeom>
          <a:noFill/>
          <a:ln w="15875">
            <a:solidFill>
              <a:srgbClr val="756E69"/>
            </a:solidFill>
            <a:prstDash val="solid"/>
            <a:tailEnd type="triangle"/>
          </a:ln>
        </p:spPr>
      </p:sp>
      <p:sp>
        <p:nvSpPr>
          <p:cNvPr id="23" name="Карточка 385"/>
          <p:cNvSpPr/>
          <p:nvPr/>
        </p:nvSpPr>
        <p:spPr>
          <a:xfrm>
            <a:off x="4983480" y="1783080"/>
            <a:ext cx="3215488" cy="1298448"/>
          </a:xfrm>
          <a:prstGeom prst="roundRect">
            <a:avLst>
              <a:gd name="adj" fmla="val 9859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24" name="Круг 386"/>
          <p:cNvSpPr/>
          <p:nvPr/>
        </p:nvSpPr>
        <p:spPr>
          <a:xfrm>
            <a:off x="5212080" y="2029968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Текст 387"/>
          <p:cNvSpPr txBox="1"/>
          <p:nvPr/>
        </p:nvSpPr>
        <p:spPr>
          <a:xfrm>
            <a:off x="5532120" y="1965960"/>
            <a:ext cx="2483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Надёжность</a:t>
            </a:r>
            <a:endParaRPr lang="en-US" sz="1400" dirty="0"/>
          </a:p>
        </p:txBody>
      </p:sp>
      <p:sp>
        <p:nvSpPr>
          <p:cNvPr id="26" name="Текст 388"/>
          <p:cNvSpPr txBox="1"/>
          <p:nvPr/>
        </p:nvSpPr>
        <p:spPr>
          <a:xfrm>
            <a:off x="5212080" y="2350008"/>
            <a:ext cx="2758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сбой бюро → повторы, затем ручная проверка; повторная отправка безопасна</a:t>
            </a:r>
            <a:endParaRPr lang="en-US" sz="1200" dirty="0"/>
          </a:p>
        </p:txBody>
      </p:sp>
      <p:sp>
        <p:nvSpPr>
          <p:cNvPr id="27" name="Карточка 389"/>
          <p:cNvSpPr/>
          <p:nvPr/>
        </p:nvSpPr>
        <p:spPr>
          <a:xfrm>
            <a:off x="8427568" y="1783080"/>
            <a:ext cx="3215488" cy="1298448"/>
          </a:xfrm>
          <a:prstGeom prst="roundRect">
            <a:avLst>
              <a:gd name="adj" fmla="val 9859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28" name="Круг 390"/>
          <p:cNvSpPr/>
          <p:nvPr/>
        </p:nvSpPr>
        <p:spPr>
          <a:xfrm>
            <a:off x="8656168" y="2029968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Текст 391"/>
          <p:cNvSpPr txBox="1"/>
          <p:nvPr/>
        </p:nvSpPr>
        <p:spPr>
          <a:xfrm>
            <a:off x="8976208" y="1965960"/>
            <a:ext cx="2483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Масштаб</a:t>
            </a:r>
            <a:endParaRPr lang="en-US" sz="1400" dirty="0"/>
          </a:p>
        </p:txBody>
      </p:sp>
      <p:sp>
        <p:nvSpPr>
          <p:cNvPr id="30" name="Текст 392"/>
          <p:cNvSpPr txBox="1"/>
          <p:nvPr/>
        </p:nvSpPr>
        <p:spPr>
          <a:xfrm>
            <a:off x="8656168" y="2350008"/>
            <a:ext cx="2758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события через LISTEN/NOTIFY, блокировка заявки для нескольких экземпляров, сессии без состояния</a:t>
            </a:r>
            <a:endParaRPr lang="en-US" sz="1200" dirty="0"/>
          </a:p>
        </p:txBody>
      </p:sp>
      <p:sp>
        <p:nvSpPr>
          <p:cNvPr id="31" name="Карточка 393"/>
          <p:cNvSpPr/>
          <p:nvPr/>
        </p:nvSpPr>
        <p:spPr>
          <a:xfrm>
            <a:off x="4983480" y="3246120"/>
            <a:ext cx="3215488" cy="1298448"/>
          </a:xfrm>
          <a:prstGeom prst="roundRect">
            <a:avLst>
              <a:gd name="adj" fmla="val 9859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32" name="Круг 394"/>
          <p:cNvSpPr/>
          <p:nvPr/>
        </p:nvSpPr>
        <p:spPr>
          <a:xfrm>
            <a:off x="5212080" y="3493008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Текст 395"/>
          <p:cNvSpPr txBox="1"/>
          <p:nvPr/>
        </p:nvSpPr>
        <p:spPr>
          <a:xfrm>
            <a:off x="5532120" y="3429000"/>
            <a:ext cx="2483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Безопасность</a:t>
            </a:r>
            <a:endParaRPr lang="en-US" sz="1400" dirty="0"/>
          </a:p>
        </p:txBody>
      </p:sp>
      <p:sp>
        <p:nvSpPr>
          <p:cNvPr id="34" name="Текст 396"/>
          <p:cNvSpPr txBox="1"/>
          <p:nvPr/>
        </p:nvSpPr>
        <p:spPr>
          <a:xfrm>
            <a:off x="5212080" y="3813048"/>
            <a:ext cx="2758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роли клиент / аналитик / поддержка, билеты потока событий, CSP, bcrypt, лимит попыток входа</a:t>
            </a:r>
            <a:endParaRPr lang="en-US" sz="1200" dirty="0"/>
          </a:p>
        </p:txBody>
      </p:sp>
      <p:sp>
        <p:nvSpPr>
          <p:cNvPr id="35" name="Карточка 397"/>
          <p:cNvSpPr/>
          <p:nvPr/>
        </p:nvSpPr>
        <p:spPr>
          <a:xfrm>
            <a:off x="8427568" y="3246120"/>
            <a:ext cx="3215488" cy="1298448"/>
          </a:xfrm>
          <a:prstGeom prst="roundRect">
            <a:avLst>
              <a:gd name="adj" fmla="val 9859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36" name="Круг 398"/>
          <p:cNvSpPr/>
          <p:nvPr/>
        </p:nvSpPr>
        <p:spPr>
          <a:xfrm>
            <a:off x="8656168" y="3493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Текст 399"/>
          <p:cNvSpPr txBox="1"/>
          <p:nvPr/>
        </p:nvSpPr>
        <p:spPr>
          <a:xfrm>
            <a:off x="8976208" y="3429000"/>
            <a:ext cx="2483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Качество</a:t>
            </a:r>
            <a:endParaRPr lang="en-US" sz="1400" dirty="0"/>
          </a:p>
        </p:txBody>
      </p:sp>
      <p:sp>
        <p:nvSpPr>
          <p:cNvPr id="38" name="Текст 400"/>
          <p:cNvSpPr txBox="1"/>
          <p:nvPr/>
        </p:nvSpPr>
        <p:spPr>
          <a:xfrm>
            <a:off x="8656168" y="3813048"/>
            <a:ext cx="2758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318 Go-тестов, 204 теста интерфейса, 18 сквозных сценариев; CI на каждый push</a:t>
            </a:r>
            <a:endParaRPr lang="en-US" sz="1200" dirty="0"/>
          </a:p>
        </p:txBody>
      </p:sp>
      <p:sp>
        <p:nvSpPr>
          <p:cNvPr id="39" name="Карточка 401"/>
          <p:cNvSpPr/>
          <p:nvPr/>
        </p:nvSpPr>
        <p:spPr>
          <a:xfrm>
            <a:off x="4983480" y="4709160"/>
            <a:ext cx="3215488" cy="1298448"/>
          </a:xfrm>
          <a:prstGeom prst="roundRect">
            <a:avLst>
              <a:gd name="adj" fmla="val 9859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40" name="Круг 402"/>
          <p:cNvSpPr/>
          <p:nvPr/>
        </p:nvSpPr>
        <p:spPr>
          <a:xfrm>
            <a:off x="5212080" y="4956048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1" name="Текст 403"/>
          <p:cNvSpPr txBox="1"/>
          <p:nvPr/>
        </p:nvSpPr>
        <p:spPr>
          <a:xfrm>
            <a:off x="5532120" y="4892040"/>
            <a:ext cx="2483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Запуск</a:t>
            </a:r>
            <a:endParaRPr lang="en-US" sz="1400" dirty="0"/>
          </a:p>
        </p:txBody>
      </p:sp>
      <p:sp>
        <p:nvSpPr>
          <p:cNvPr id="42" name="Текст 404"/>
          <p:cNvSpPr txBox="1"/>
          <p:nvPr/>
        </p:nvSpPr>
        <p:spPr>
          <a:xfrm>
            <a:off x="5212080" y="5276088"/>
            <a:ext cx="2758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docker compose up — одна команда; версии зафиксированы; данные синтетические</a:t>
            </a:r>
            <a:endParaRPr lang="en-US" sz="1200" dirty="0"/>
          </a:p>
        </p:txBody>
      </p:sp>
      <p:sp>
        <p:nvSpPr>
          <p:cNvPr id="43" name="Карточка 405"/>
          <p:cNvSpPr/>
          <p:nvPr/>
        </p:nvSpPr>
        <p:spPr>
          <a:xfrm>
            <a:off x="8427568" y="4709160"/>
            <a:ext cx="3215488" cy="1298448"/>
          </a:xfrm>
          <a:prstGeom prst="roundRect">
            <a:avLst>
              <a:gd name="adj" fmla="val 9859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44" name="Круг 406"/>
          <p:cNvSpPr/>
          <p:nvPr/>
        </p:nvSpPr>
        <p:spPr>
          <a:xfrm>
            <a:off x="8656168" y="4956048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Текст 407"/>
          <p:cNvSpPr txBox="1"/>
          <p:nvPr/>
        </p:nvSpPr>
        <p:spPr>
          <a:xfrm>
            <a:off x="8976208" y="4892040"/>
            <a:ext cx="2483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Показатели процесса</a:t>
            </a:r>
            <a:endParaRPr lang="en-US" sz="1400" dirty="0"/>
          </a:p>
        </p:txBody>
      </p:sp>
      <p:sp>
        <p:nvSpPr>
          <p:cNvPr id="46" name="Текст 408"/>
          <p:cNvSpPr txBox="1"/>
          <p:nvPr/>
        </p:nvSpPr>
        <p:spPr>
          <a:xfrm>
            <a:off x="8656168" y="5276088"/>
            <a:ext cx="2758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доля автоматических решений, время до решения, возвраты на уточнение, принятые предложения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ГРАНИЦЫ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Что упрощено осознанно — и что дальше</a:t>
            </a:r>
            <a:endParaRPr lang="en-US" sz="2600" dirty="0"/>
          </a:p>
        </p:txBody>
      </p:sp>
      <p:sp>
        <p:nvSpPr>
          <p:cNvPr id="4" name="Карточка 409"/>
          <p:cNvSpPr/>
          <p:nvPr/>
        </p:nvSpPr>
        <p:spPr>
          <a:xfrm>
            <a:off x="548640" y="1783080"/>
            <a:ext cx="5303520" cy="4389120"/>
          </a:xfrm>
          <a:prstGeom prst="roundRect">
            <a:avLst>
              <a:gd name="adj" fmla="val 2917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5" name="Текст 410"/>
          <p:cNvSpPr txBox="1"/>
          <p:nvPr/>
        </p:nvSpPr>
        <p:spPr>
          <a:xfrm>
            <a:off x="868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Упрощено</a:t>
            </a:r>
            <a:endParaRPr lang="en-US" sz="1800" dirty="0"/>
          </a:p>
        </p:txBody>
      </p:sp>
      <p:sp>
        <p:nvSpPr>
          <p:cNvPr id="6" name="Текст 411"/>
          <p:cNvSpPr txBox="1"/>
          <p:nvPr/>
        </p:nvSpPr>
        <p:spPr>
          <a:xfrm>
            <a:off x="86868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Текст 412"/>
          <p:cNvSpPr txBox="1"/>
          <p:nvPr/>
        </p:nvSpPr>
        <p:spPr>
          <a:xfrm>
            <a:off x="1463040" y="2651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PD, LGD и пороги иллюстративные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 прототипа нет статистики дефолтов</a:t>
            </a:r>
            <a:endParaRPr lang="en-US" sz="1300" dirty="0"/>
          </a:p>
        </p:txBody>
      </p:sp>
      <p:sp>
        <p:nvSpPr>
          <p:cNvPr id="8" name="Текст 413"/>
          <p:cNvSpPr txBox="1"/>
          <p:nvPr/>
        </p:nvSpPr>
        <p:spPr>
          <a:xfrm>
            <a:off x="868680" y="3493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Текст 414"/>
          <p:cNvSpPr txBox="1"/>
          <p:nvPr/>
        </p:nvSpPr>
        <p:spPr>
          <a:xfrm>
            <a:off x="1463040" y="34930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Денежный поток — из смоделированной выписки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без неё — оценка по отрасли: 35 / 30 / 25 % выручки</a:t>
            </a:r>
            <a:endParaRPr lang="en-US" sz="1300" dirty="0"/>
          </a:p>
        </p:txBody>
      </p:sp>
      <p:sp>
        <p:nvSpPr>
          <p:cNvPr id="10" name="Текст 415"/>
          <p:cNvSpPr txBox="1"/>
          <p:nvPr/>
        </p:nvSpPr>
        <p:spPr>
          <a:xfrm>
            <a:off x="868680" y="4334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Текст 416"/>
          <p:cNvSpPr txBox="1"/>
          <p:nvPr/>
        </p:nvSpPr>
        <p:spPr>
          <a:xfrm>
            <a:off x="1463040" y="43342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БКИ, ЕГРЮЛ, подписание и выдача — моки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данные синтетические, смысл интеграций сохранён</a:t>
            </a:r>
            <a:endParaRPr lang="en-US" sz="1300" dirty="0"/>
          </a:p>
        </p:txBody>
      </p:sp>
      <p:sp>
        <p:nvSpPr>
          <p:cNvPr id="12" name="Текст 417"/>
          <p:cNvSpPr txBox="1"/>
          <p:nvPr/>
        </p:nvSpPr>
        <p:spPr>
          <a:xfrm>
            <a:off x="868680" y="51755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Текст 418"/>
          <p:cNvSpPr txBox="1"/>
          <p:nvPr/>
        </p:nvSpPr>
        <p:spPr>
          <a:xfrm>
            <a:off x="1463040" y="5175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Одна роль аналитика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без лимитов полномочий и кредитного комитета</a:t>
            </a:r>
            <a:endParaRPr lang="en-US" sz="1300" dirty="0"/>
          </a:p>
        </p:txBody>
      </p:sp>
      <p:sp>
        <p:nvSpPr>
          <p:cNvPr id="14" name="Карточка 419"/>
          <p:cNvSpPr/>
          <p:nvPr/>
        </p:nvSpPr>
        <p:spPr>
          <a:xfrm>
            <a:off x="6172200" y="1783080"/>
            <a:ext cx="5303520" cy="4389120"/>
          </a:xfrm>
          <a:prstGeom prst="roundRect">
            <a:avLst>
              <a:gd name="adj" fmla="val 2917"/>
            </a:avLst>
          </a:prstGeom>
          <a:solidFill>
            <a:schemeClr val="accent5"/>
          </a:solidFill>
          <a:ln/>
        </p:spPr>
      </p:sp>
      <p:sp>
        <p:nvSpPr>
          <p:cNvPr id="15" name="Текст 420"/>
          <p:cNvSpPr txBox="1"/>
          <p:nvPr/>
        </p:nvSpPr>
        <p:spPr>
          <a:xfrm>
            <a:off x="64922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16" name="Текст 421"/>
          <p:cNvSpPr txBox="1"/>
          <p:nvPr/>
        </p:nvSpPr>
        <p:spPr>
          <a:xfrm>
            <a:off x="649224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Текст 422"/>
          <p:cNvSpPr txBox="1"/>
          <p:nvPr/>
        </p:nvSpPr>
        <p:spPr>
          <a:xfrm>
            <a:off x="7086600" y="2651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Калибровка на данных банка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логистическая регрессия, узкие классы, мониторинг дрейфа</a:t>
            </a:r>
            <a:endParaRPr lang="en-US" sz="1300" dirty="0"/>
          </a:p>
        </p:txBody>
      </p:sp>
      <p:sp>
        <p:nvSpPr>
          <p:cNvPr id="18" name="Текст 423"/>
          <p:cNvSpPr txBox="1"/>
          <p:nvPr/>
        </p:nvSpPr>
        <p:spPr>
          <a:xfrm>
            <a:off x="6492240" y="3493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Текст 424"/>
          <p:cNvSpPr txBox="1"/>
          <p:nvPr/>
        </p:nvSpPr>
        <p:spPr>
          <a:xfrm>
            <a:off x="7086600" y="34930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Новые продукты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кредитная линия, лизинг, залог недвижимости, поручительство</a:t>
            </a:r>
            <a:endParaRPr lang="en-US" sz="1300" dirty="0"/>
          </a:p>
        </p:txBody>
      </p:sp>
      <p:sp>
        <p:nvSpPr>
          <p:cNvPr id="20" name="Текст 425"/>
          <p:cNvSpPr txBox="1"/>
          <p:nvPr/>
        </p:nvSpPr>
        <p:spPr>
          <a:xfrm>
            <a:off x="6492240" y="4334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Текст 426"/>
          <p:cNvSpPr txBox="1"/>
          <p:nvPr/>
        </p:nvSpPr>
        <p:spPr>
          <a:xfrm>
            <a:off x="7086600" y="43342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Полномочия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лимиты по суммам, кредитный комитет, правка баллов с журналом</a:t>
            </a:r>
            <a:endParaRPr lang="en-US" sz="1300" dirty="0"/>
          </a:p>
        </p:txBody>
      </p:sp>
      <p:sp>
        <p:nvSpPr>
          <p:cNvPr id="22" name="Текст 427"/>
          <p:cNvSpPr txBox="1"/>
          <p:nvPr/>
        </p:nvSpPr>
        <p:spPr>
          <a:xfrm>
            <a:off x="6492240" y="51755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Текст 428"/>
          <p:cNvSpPr txBox="1"/>
          <p:nvPr/>
        </p:nvSpPr>
        <p:spPr>
          <a:xfrm>
            <a:off x="7086600" y="5175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Реальные сервисы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ЭДО и подписание, выдача, бюро и ФНС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КРИТЕРИИ КЕЙСА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Как мы закрыли критерии кейса</a:t>
            </a:r>
            <a:endParaRPr lang="en-US" sz="2600" dirty="0"/>
          </a:p>
        </p:txBody>
      </p:sp>
      <p:sp>
        <p:nvSpPr>
          <p:cNvPr id="4" name="Карточка 429"/>
          <p:cNvSpPr/>
          <p:nvPr/>
        </p:nvSpPr>
        <p:spPr>
          <a:xfrm>
            <a:off x="548640" y="1783080"/>
            <a:ext cx="3515258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5" name="Круг 430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Текст 431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Текст 432"/>
          <p:cNvSpPr txBox="1"/>
          <p:nvPr/>
        </p:nvSpPr>
        <p:spPr>
          <a:xfrm>
            <a:off x="1417320" y="205740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Целостность решения</a:t>
            </a:r>
            <a:endParaRPr lang="en-US" sz="1600" dirty="0"/>
          </a:p>
        </p:txBody>
      </p:sp>
      <p:sp>
        <p:nvSpPr>
          <p:cNvPr id="8" name="Текст 433"/>
          <p:cNvSpPr txBox="1"/>
          <p:nvPr/>
        </p:nvSpPr>
        <p:spPr>
          <a:xfrm>
            <a:off x="822960" y="2624328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Путь от регистрации до выдачи — в одном продукте; видео ключевого сценария</a:t>
            </a:r>
            <a:endParaRPr lang="en-US" sz="1300" dirty="0"/>
          </a:p>
        </p:txBody>
      </p:sp>
      <p:sp>
        <p:nvSpPr>
          <p:cNvPr id="9" name="Карточка 434"/>
          <p:cNvSpPr/>
          <p:nvPr/>
        </p:nvSpPr>
        <p:spPr>
          <a:xfrm>
            <a:off x="4338218" y="1783080"/>
            <a:ext cx="3515258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0" name="Круг 435"/>
          <p:cNvSpPr/>
          <p:nvPr/>
        </p:nvSpPr>
        <p:spPr>
          <a:xfrm>
            <a:off x="4612538" y="20574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Текст 436"/>
          <p:cNvSpPr txBox="1"/>
          <p:nvPr/>
        </p:nvSpPr>
        <p:spPr>
          <a:xfrm>
            <a:off x="461253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Текст 437"/>
          <p:cNvSpPr txBox="1"/>
          <p:nvPr/>
        </p:nvSpPr>
        <p:spPr>
          <a:xfrm>
            <a:off x="5206898" y="205740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Готовность к проверке</a:t>
            </a:r>
            <a:endParaRPr lang="en-US" sz="1600" dirty="0"/>
          </a:p>
        </p:txBody>
      </p:sp>
      <p:sp>
        <p:nvSpPr>
          <p:cNvPr id="13" name="Текст 438"/>
          <p:cNvSpPr txBox="1"/>
          <p:nvPr/>
        </p:nvSpPr>
        <p:spPr>
          <a:xfrm>
            <a:off x="4612538" y="2624328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docker compose up одной командой, 13 демо-аккаунтов, README, Swagger, Postman, сценарии</a:t>
            </a:r>
            <a:endParaRPr lang="en-US" sz="1300" dirty="0"/>
          </a:p>
        </p:txBody>
      </p:sp>
      <p:sp>
        <p:nvSpPr>
          <p:cNvPr id="14" name="Карточка 439"/>
          <p:cNvSpPr/>
          <p:nvPr/>
        </p:nvSpPr>
        <p:spPr>
          <a:xfrm>
            <a:off x="8127797" y="1783080"/>
            <a:ext cx="3515258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15" name="Круг 440"/>
          <p:cNvSpPr/>
          <p:nvPr/>
        </p:nvSpPr>
        <p:spPr>
          <a:xfrm>
            <a:off x="8402117" y="20574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Текст 441"/>
          <p:cNvSpPr txBox="1"/>
          <p:nvPr/>
        </p:nvSpPr>
        <p:spPr>
          <a:xfrm>
            <a:off x="8402117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Текст 442"/>
          <p:cNvSpPr txBox="1"/>
          <p:nvPr/>
        </p:nvSpPr>
        <p:spPr>
          <a:xfrm>
            <a:off x="8996477" y="205740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Пользовательский опыт</a:t>
            </a:r>
            <a:endParaRPr lang="en-US" sz="1600" dirty="0"/>
          </a:p>
        </p:txBody>
      </p:sp>
      <p:sp>
        <p:nvSpPr>
          <p:cNvPr id="18" name="Текст 443"/>
          <p:cNvSpPr txBox="1"/>
          <p:nvPr/>
        </p:nvSpPr>
        <p:spPr>
          <a:xfrm>
            <a:off x="8402117" y="2624328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Клиент видит статус и следующий шаг, аналитик — заключение и рекомендацию</a:t>
            </a:r>
            <a:endParaRPr lang="en-US" sz="1300" dirty="0"/>
          </a:p>
        </p:txBody>
      </p:sp>
      <p:sp>
        <p:nvSpPr>
          <p:cNvPr id="19" name="Карточка 444"/>
          <p:cNvSpPr/>
          <p:nvPr/>
        </p:nvSpPr>
        <p:spPr>
          <a:xfrm>
            <a:off x="548640" y="3657600"/>
            <a:ext cx="3515258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20" name="Круг 445"/>
          <p:cNvSpPr/>
          <p:nvPr/>
        </p:nvSpPr>
        <p:spPr>
          <a:xfrm>
            <a:off x="822960" y="3931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Текст 446"/>
          <p:cNvSpPr txBox="1"/>
          <p:nvPr/>
        </p:nvSpPr>
        <p:spPr>
          <a:xfrm>
            <a:off x="82296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Текст 447"/>
          <p:cNvSpPr txBox="1"/>
          <p:nvPr/>
        </p:nvSpPr>
        <p:spPr>
          <a:xfrm>
            <a:off x="1417320" y="393192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Согласованность модулей</a:t>
            </a:r>
            <a:endParaRPr lang="en-US" sz="1600" dirty="0"/>
          </a:p>
        </p:txBody>
      </p:sp>
      <p:sp>
        <p:nvSpPr>
          <p:cNvPr id="23" name="Текст 448"/>
          <p:cNvSpPr txBox="1"/>
          <p:nvPr/>
        </p:nvSpPr>
        <p:spPr>
          <a:xfrm>
            <a:off x="822960" y="4498848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Статус меняется только допустимым переходом вместе с журналом; данные вводятся один раз</a:t>
            </a:r>
            <a:endParaRPr lang="en-US" sz="1300" dirty="0"/>
          </a:p>
        </p:txBody>
      </p:sp>
      <p:sp>
        <p:nvSpPr>
          <p:cNvPr id="24" name="Карточка 449"/>
          <p:cNvSpPr/>
          <p:nvPr/>
        </p:nvSpPr>
        <p:spPr>
          <a:xfrm>
            <a:off x="4338218" y="3657600"/>
            <a:ext cx="3515258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25" name="Круг 450"/>
          <p:cNvSpPr/>
          <p:nvPr/>
        </p:nvSpPr>
        <p:spPr>
          <a:xfrm>
            <a:off x="4612538" y="3931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Текст 451"/>
          <p:cNvSpPr txBox="1"/>
          <p:nvPr/>
        </p:nvSpPr>
        <p:spPr>
          <a:xfrm>
            <a:off x="4612538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Текст 452"/>
          <p:cNvSpPr txBox="1"/>
          <p:nvPr/>
        </p:nvSpPr>
        <p:spPr>
          <a:xfrm>
            <a:off x="5206898" y="393192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Enterprise-подход</a:t>
            </a:r>
            <a:endParaRPr lang="en-US" sz="1600" dirty="0"/>
          </a:p>
        </p:txBody>
      </p:sp>
      <p:sp>
        <p:nvSpPr>
          <p:cNvPr id="28" name="Текст 453"/>
          <p:cNvSpPr txBox="1"/>
          <p:nvPr/>
        </p:nvSpPr>
        <p:spPr>
          <a:xfrm>
            <a:off x="4612538" y="4498848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Роли, версии заявки, повторы при сбоях, события между экземплярами, 540 тестов и CI</a:t>
            </a:r>
            <a:endParaRPr lang="en-US" sz="1300" dirty="0"/>
          </a:p>
        </p:txBody>
      </p:sp>
      <p:sp>
        <p:nvSpPr>
          <p:cNvPr id="29" name="Карточка 454"/>
          <p:cNvSpPr/>
          <p:nvPr/>
        </p:nvSpPr>
        <p:spPr>
          <a:xfrm>
            <a:off x="8127797" y="3657600"/>
            <a:ext cx="3515258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8DFDC"/>
            </a:solidFill>
            <a:prstDash val="solid"/>
          </a:ln>
        </p:spPr>
      </p:sp>
      <p:sp>
        <p:nvSpPr>
          <p:cNvPr id="30" name="Круг 455"/>
          <p:cNvSpPr/>
          <p:nvPr/>
        </p:nvSpPr>
        <p:spPr>
          <a:xfrm>
            <a:off x="8402117" y="3931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Текст 456"/>
          <p:cNvSpPr txBox="1"/>
          <p:nvPr/>
        </p:nvSpPr>
        <p:spPr>
          <a:xfrm>
            <a:off x="8402117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Текст 457"/>
          <p:cNvSpPr txBox="1"/>
          <p:nvPr/>
        </p:nvSpPr>
        <p:spPr>
          <a:xfrm>
            <a:off x="8996477" y="393192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Потенциал развития</a:t>
            </a:r>
            <a:endParaRPr lang="en-US" sz="1600" dirty="0"/>
          </a:p>
        </p:txBody>
      </p:sp>
      <p:sp>
        <p:nvSpPr>
          <p:cNvPr id="33" name="Текст 458"/>
          <p:cNvSpPr txBox="1"/>
          <p:nvPr/>
        </p:nvSpPr>
        <p:spPr>
          <a:xfrm>
            <a:off x="8402117" y="4498848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Калибровка, новые продукты, лимиты полномочий; 6 записей о решениях (ADR)</a:t>
            </a:r>
            <a:endParaRPr lang="en-US" sz="1300" dirty="0"/>
          </a:p>
        </p:txBody>
      </p:sp>
      <p:sp>
        <p:nvSpPr>
          <p:cNvPr id="34" name="Карточка 459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5" name="Текст 460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Ограничения соблюдены: веб-интерфейс · весь путь внутри продукта, без SMS и почты · моки вместо систем банка · синтетические данные · открытые модели · без платных API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уг 461"/>
          <p:cNvSpPr/>
          <p:nvPr/>
        </p:nvSpPr>
        <p:spPr>
          <a:xfrm>
            <a:off x="8229600" y="3291840"/>
            <a:ext cx="5120640" cy="5120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Круг 462"/>
          <p:cNvSpPr/>
          <p:nvPr/>
        </p:nvSpPr>
        <p:spPr>
          <a:xfrm>
            <a:off x="7452360" y="6858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Круг 463"/>
          <p:cNvSpPr/>
          <p:nvPr/>
        </p:nvSpPr>
        <p:spPr>
          <a:xfrm>
            <a:off x="11338560" y="109728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" name="Круг 464"/>
          <p:cNvSpPr/>
          <p:nvPr/>
        </p:nvSpPr>
        <p:spPr>
          <a:xfrm>
            <a:off x="6949440" y="5440680"/>
            <a:ext cx="822960" cy="82296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6" name="Текст 465"/>
          <p:cNvSpPr txBox="1"/>
          <p:nvPr/>
        </p:nvSpPr>
        <p:spPr>
          <a:xfrm>
            <a:off x="548640" y="9144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Весь путь — в одном продукте</a:t>
            </a:r>
            <a:endParaRPr lang="en-US" sz="3800" dirty="0"/>
          </a:p>
        </p:txBody>
      </p:sp>
      <p:sp>
        <p:nvSpPr>
          <p:cNvPr id="7" name="Текст 466"/>
          <p:cNvSpPr txBox="1"/>
          <p:nvPr/>
        </p:nvSpPr>
        <p:spPr>
          <a:xfrm>
            <a:off x="5486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Клиент видит каждый шаг · банк получает проверенные данные и прозрачную оценку · человек решает там, где он нужен</a:t>
            </a:r>
            <a:endParaRPr lang="en-US" sz="1500" dirty="0"/>
          </a:p>
        </p:txBody>
      </p:sp>
      <p:sp>
        <p:nvSpPr>
          <p:cNvPr id="8" name="Текст 467"/>
          <p:cNvSpPr txBox="1"/>
          <p:nvPr/>
        </p:nvSpPr>
        <p:spPr>
          <a:xfrm>
            <a:off x="54864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Сайт</a:t>
            </a:r>
            <a:endParaRPr lang="en-US" sz="1200" dirty="0"/>
          </a:p>
        </p:txBody>
      </p:sp>
      <p:sp>
        <p:nvSpPr>
          <p:cNvPr id="9" name="Текст 468"/>
          <p:cNvSpPr txBox="1"/>
          <p:nvPr/>
        </p:nvSpPr>
        <p:spPr>
          <a:xfrm>
            <a:off x="196596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matritsa-rusi.ru</a:t>
            </a:r>
            <a:endParaRPr lang="en-US" sz="1400" dirty="0"/>
          </a:p>
        </p:txBody>
      </p:sp>
      <p:sp>
        <p:nvSpPr>
          <p:cNvPr id="10" name="Текст 469"/>
          <p:cNvSpPr txBox="1"/>
          <p:nvPr/>
        </p:nvSpPr>
        <p:spPr>
          <a:xfrm>
            <a:off x="548640" y="4041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Код</a:t>
            </a:r>
            <a:endParaRPr lang="en-US" sz="1200" dirty="0"/>
          </a:p>
        </p:txBody>
      </p:sp>
      <p:sp>
        <p:nvSpPr>
          <p:cNvPr id="11" name="Текст 470"/>
          <p:cNvSpPr txBox="1"/>
          <p:nvPr/>
        </p:nvSpPr>
        <p:spPr>
          <a:xfrm>
            <a:off x="1965960" y="4041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github.com/ruslankoleso/matritsa</a:t>
            </a:r>
            <a:endParaRPr lang="en-US" sz="1400" dirty="0"/>
          </a:p>
        </p:txBody>
      </p:sp>
      <p:sp>
        <p:nvSpPr>
          <p:cNvPr id="12" name="Текст 471"/>
          <p:cNvSpPr txBox="1"/>
          <p:nvPr/>
        </p:nvSpPr>
        <p:spPr>
          <a:xfrm>
            <a:off x="548640" y="4471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Запуск</a:t>
            </a:r>
            <a:endParaRPr lang="en-US" sz="1200" dirty="0"/>
          </a:p>
        </p:txBody>
      </p:sp>
      <p:sp>
        <p:nvSpPr>
          <p:cNvPr id="13" name="Текст 472"/>
          <p:cNvSpPr txBox="1"/>
          <p:nvPr/>
        </p:nvSpPr>
        <p:spPr>
          <a:xfrm>
            <a:off x="1965960" y="44714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docker compose up --build → localhost:3000</a:t>
            </a:r>
            <a:endParaRPr lang="en-US" sz="1400" dirty="0"/>
          </a:p>
        </p:txBody>
      </p:sp>
      <p:sp>
        <p:nvSpPr>
          <p:cNvPr id="14" name="Текст 473"/>
          <p:cNvSpPr txBox="1"/>
          <p:nvPr/>
        </p:nvSpPr>
        <p:spPr>
          <a:xfrm>
            <a:off x="548640" y="4901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Доступы</a:t>
            </a:r>
            <a:endParaRPr lang="en-US" sz="1200" dirty="0"/>
          </a:p>
        </p:txBody>
      </p:sp>
      <p:sp>
        <p:nvSpPr>
          <p:cNvPr id="15" name="Текст 474"/>
          <p:cNvSpPr txBox="1"/>
          <p:nvPr/>
        </p:nvSpPr>
        <p:spPr>
          <a:xfrm>
            <a:off x="1965960" y="49011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client1 … client11, staff1, support1 · пароль demo1234</a:t>
            </a:r>
            <a:endParaRPr lang="en-US" sz="1400" dirty="0"/>
          </a:p>
        </p:txBody>
      </p:sp>
      <p:sp>
        <p:nvSpPr>
          <p:cNvPr id="16" name="Текст 475"/>
          <p:cNvSpPr txBox="1"/>
          <p:nvPr/>
        </p:nvSpPr>
        <p:spPr>
          <a:xfrm>
            <a:off x="548640" y="5330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Материалы</a:t>
            </a:r>
            <a:endParaRPr lang="en-US" sz="1200" dirty="0"/>
          </a:p>
        </p:txBody>
      </p:sp>
      <p:sp>
        <p:nvSpPr>
          <p:cNvPr id="17" name="Текст 476"/>
          <p:cNvSpPr txBox="1"/>
          <p:nvPr/>
        </p:nvSpPr>
        <p:spPr>
          <a:xfrm>
            <a:off x="1965960" y="5330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видео ключевого сценария · README · OpenAPI · тесты</a:t>
            </a:r>
            <a:endParaRPr lang="en-US" sz="1400" dirty="0"/>
          </a:p>
        </p:txBody>
      </p:sp>
      <p:sp>
        <p:nvSpPr>
          <p:cNvPr id="18" name="Текст 477"/>
          <p:cNvSpPr txBox="1"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Команда МАТРИЦА РУСИ</a:t>
            </a:r>
            <a:endParaRPr lang="en-US" sz="1300" dirty="0"/>
          </a:p>
        </p:txBody>
      </p:sp>
      <p:sp>
        <p:nvSpPr>
          <p:cNvPr id="19" name="Текст 478"/>
          <p:cNvSpPr txBox="1"/>
          <p:nvPr/>
        </p:nvSpPr>
        <p:spPr>
          <a:xfrm rot="-240000">
            <a:off x="8778240" y="5120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Спасибо!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Матрица">
  <a:themeElements>
    <a:clrScheme name="Матрица">
      <a:dk1>
        <a:srgbClr val="1B1A19"/>
      </a:dk1>
      <a:lt1>
        <a:srgbClr val="FFFFFF"/>
      </a:lt1>
      <a:dk2>
        <a:srgbClr val="2A2321"/>
      </a:dk2>
      <a:lt2>
        <a:srgbClr val="FBF8F7"/>
      </a:lt2>
      <a:accent1>
        <a:srgbClr val="DF291C"/>
      </a:accent1>
      <a:accent2>
        <a:srgbClr val="FBCBC6"/>
      </a:accent2>
      <a:accent3>
        <a:srgbClr val="1F7A4D"/>
      </a:accent3>
      <a:accent4>
        <a:srgbClr val="3B4A6B"/>
      </a:accent4>
      <a:accent5>
        <a:srgbClr val="FDE4E1"/>
      </a:accent5>
      <a:accent6>
        <a:srgbClr val="756E69"/>
      </a:accent6>
      <a:hlink>
        <a:srgbClr val="DF291C"/>
      </a:hlink>
      <a:folHlink>
        <a:srgbClr val="C42418"/>
      </a:folHlink>
    </a:clrScheme>
    <a:fontScheme name="Матрица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ne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МАТРИЦА РУСИ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Матрица — умный кредитный кабинет предпринимателя</dc:title>
  <dc:subject>PptxGenJS Presentation</dc:subject>
  <dc:creator>Команда МАТРИЦА РУСИ</dc:creator>
  <cp:lastModifiedBy>Команда МАТРИЦА РУСИ</cp:lastModifiedBy>
  <cp:revision>1</cp:revision>
  <dcterms:created xsi:type="dcterms:W3CDTF">2026-10-26T13:46:41Z</dcterms:created>
  <dcterms:modified xsi:type="dcterms:W3CDTF">2026-10-26T13:46:41Z</dcterms:modified>
</cp:coreProperties>
</file>